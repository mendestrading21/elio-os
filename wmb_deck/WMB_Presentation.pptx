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de conversion (%)</c:v>
                </c:pt>
              </c:strCache>
            </c:strRef>
          </c:tx>
          <c:dPt>
            <c:idx val="0"/>
            <c:spPr>
              <a:solidFill>
                <a:srgbClr val="0F2742"/>
              </a:solidFill>
              <a:ln>
                <a:noFill/>
              </a:ln>
            </c:spPr>
          </c:dPt>
          <c:dPt>
            <c:idx val="1"/>
            <c:spPr>
              <a:solidFill>
                <a:srgbClr val="0F2742"/>
              </a:solidFill>
              <a:ln>
                <a:noFill/>
              </a:ln>
            </c:spPr>
          </c:dPt>
          <c:dPt>
            <c:idx val="2"/>
            <c:spPr>
              <a:solidFill>
                <a:srgbClr val="0F2742"/>
              </a:solidFill>
              <a:ln>
                <a:noFill/>
              </a:ln>
            </c:spPr>
          </c:dPt>
          <c:dPt>
            <c:idx val="3"/>
            <c:spPr>
              <a:solidFill>
                <a:srgbClr val="C9A34E"/>
              </a:solidFill>
              <a:ln>
                <a:noFill/>
              </a:ln>
            </c:spPr>
          </c:dPt>
          <c:cat>
            <c:strRef>
              <c:f>Sheet1!$A$2:$A$5</c:f>
              <c:strCache>
                <c:ptCount val="4"/>
                <c:pt idx="0">
                  <c:v>Plancher
marché</c:v>
                </c:pt>
                <c:pt idx="1">
                  <c:v>Médiane
marché</c:v>
                </c:pt>
                <c:pt idx="2">
                  <c:v>Cible WMB</c:v>
                </c:pt>
                <c:pt idx="3">
                  <c:v>Meilleures
publications</c:v>
                </c:pt>
              </c:strCache>
            </c:strRef>
          </c:cat>
          <c:val>
            <c:numRef>
              <c:f>Sheet1!$B$2:$B$5</c:f>
              <c:numCache>
                <c:formatCode>General</c:formatCode>
                <c:ptCount val="4"/>
                <c:pt idx="0">
                  <c:v>2.0</c:v>
                </c:pt>
                <c:pt idx="1">
                  <c:v>3.0</c:v>
                </c:pt>
                <c:pt idx="2">
                  <c:v>3.5</c:v>
                </c:pt>
                <c:pt idx="3">
                  <c:v>8.0</c:v>
                </c:pt>
              </c:numCache>
            </c:numRef>
          </c:val>
        </c:ser>
        <c:dLbls>
          <c:numFmt sourceLinked="0" formatCode="#,##0"/>
          <c:txPr>
            <a:bodyPr/>
            <a:lstStyle/>
            <a:p>
              <a:pPr>
                <a:defRPr sz="1000" b="1">
                  <a:solidFill>
                    <a:srgbClr val="0F2742"/>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E2E5EA"/>
            </a:solidFill>
          </a:ln>
        </c:spPr>
        <c:txPr>
          <a:bodyPr/>
          <a:lstStyle/>
          <a:p>
            <a:pPr>
              <a:defRPr sz="1000">
                <a:solidFill>
                  <a:srgbClr val="5B7A9D"/>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E2E5EA"/>
              </a:solidFill>
            </a:ln>
          </c:spPr>
        </c:majorGridlines>
        <c:majorTickMark val="none"/>
        <c:minorTickMark val="none"/>
        <c:tickLblPos val="nextTo"/>
        <c:spPr>
          <a:ln>
            <a:noFill/>
          </a:ln>
        </c:spPr>
        <c:txPr>
          <a:bodyPr/>
          <a:lstStyle/>
          <a:p>
            <a:pPr>
              <a:defRPr sz="900">
                <a:solidFill>
                  <a:srgbClr val="5B7A9D"/>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MRR de fin d'année (CHF)</c:v>
                </c:pt>
              </c:strCache>
            </c:strRef>
          </c:tx>
          <c:dPt>
            <c:idx val="0"/>
            <c:spPr>
              <a:solidFill>
                <a:srgbClr val="0F2742"/>
              </a:solidFill>
              <a:ln>
                <a:noFill/>
              </a:ln>
            </c:spPr>
          </c:dPt>
          <c:dPt>
            <c:idx val="1"/>
            <c:spPr>
              <a:solidFill>
                <a:srgbClr val="0F2742"/>
              </a:solidFill>
              <a:ln>
                <a:noFill/>
              </a:ln>
            </c:spPr>
          </c:dPt>
          <c:dPt>
            <c:idx val="2"/>
            <c:spPr>
              <a:solidFill>
                <a:srgbClr val="C9A34E"/>
              </a:solidFill>
              <a:ln>
                <a:noFill/>
              </a:ln>
            </c:spPr>
          </c:dPt>
          <c:cat>
            <c:strRef>
              <c:f>Sheet1!$A$2:$A$4</c:f>
              <c:strCache>
                <c:ptCount val="3"/>
                <c:pt idx="0">
                  <c:v>Année 1</c:v>
                </c:pt>
                <c:pt idx="1">
                  <c:v>Année 2</c:v>
                </c:pt>
                <c:pt idx="2">
                  <c:v>Année 3</c:v>
                </c:pt>
              </c:strCache>
            </c:strRef>
          </c:cat>
          <c:val>
            <c:numRef>
              <c:f>Sheet1!$B$2:$B$4</c:f>
              <c:numCache>
                <c:formatCode>General</c:formatCode>
                <c:ptCount val="3"/>
                <c:pt idx="0">
                  <c:v>14700</c:v>
                </c:pt>
                <c:pt idx="1">
                  <c:v>58800</c:v>
                </c:pt>
                <c:pt idx="2">
                  <c:v>147000</c:v>
                </c:pt>
              </c:numCache>
            </c:numRef>
          </c:val>
        </c:ser>
        <c:dLbls>
          <c:numFmt sourceLinked="0" formatCode="#,##0"/>
          <c:txPr>
            <a:bodyPr/>
            <a:lstStyle/>
            <a:p>
              <a:pPr>
                <a:defRPr sz="1000" b="1">
                  <a:solidFill>
                    <a:srgbClr val="0F2742"/>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E2E5EA"/>
            </a:solidFill>
          </a:ln>
        </c:spPr>
        <c:txPr>
          <a:bodyPr/>
          <a:lstStyle/>
          <a:p>
            <a:pPr>
              <a:defRPr sz="1000">
                <a:solidFill>
                  <a:srgbClr val="5B7A9D"/>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E2E5EA"/>
              </a:solidFill>
            </a:ln>
          </c:spPr>
        </c:majorGridlines>
        <c:majorTickMark val="none"/>
        <c:minorTickMark val="none"/>
        <c:tickLblPos val="nextTo"/>
        <c:spPr>
          <a:ln>
            <a:noFill/>
          </a:ln>
        </c:spPr>
        <c:txPr>
          <a:bodyPr/>
          <a:lstStyle/>
          <a:p>
            <a:pPr>
              <a:defRPr sz="900">
                <a:solidFill>
                  <a:srgbClr val="5B7A9D"/>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Audience gratuite</c:v>
                </c:pt>
              </c:strCache>
            </c:strRef>
          </c:tx>
          <c:spPr>
            <a:ln w="31750">
              <a:solidFill>
                <a:srgbClr val="5B7A9D"/>
              </a:solidFill>
            </a:ln>
          </c:spPr>
          <c:cat>
            <c:strRef>
              <c:f>Sheet1!$A$2:$A$5</c:f>
              <c:strCache>
                <c:ptCount val="4"/>
                <c:pt idx="0">
                  <c:v>Lancement</c:v>
                </c:pt>
                <c:pt idx="1">
                  <c:v>Année 1</c:v>
                </c:pt>
                <c:pt idx="2">
                  <c:v>Année 2</c:v>
                </c:pt>
                <c:pt idx="3">
                  <c:v>Année 3</c:v>
                </c:pt>
              </c:strCache>
            </c:strRef>
          </c:cat>
          <c:val>
            <c:numRef>
              <c:f>Sheet1!$B$2:$B$5</c:f>
              <c:numCache>
                <c:formatCode>General</c:formatCode>
                <c:ptCount val="4"/>
                <c:pt idx="0">
                  <c:v>1000</c:v>
                </c:pt>
                <c:pt idx="1">
                  <c:v>8000</c:v>
                </c:pt>
                <c:pt idx="2">
                  <c:v>25000</c:v>
                </c:pt>
                <c:pt idx="3">
                  <c:v>50000</c:v>
                </c:pt>
              </c:numCache>
            </c:numRef>
          </c:val>
          <c:smooth val="0"/>
        </c:ser>
        <c:ser>
          <c:idx val="1"/>
          <c:order val="1"/>
          <c:tx>
            <c:strRef>
              <c:f>Sheet1!$C$1</c:f>
              <c:strCache>
                <c:ptCount val="1"/>
                <c:pt idx="0">
                  <c:v>Abonnés payants</c:v>
                </c:pt>
              </c:strCache>
            </c:strRef>
          </c:tx>
          <c:spPr>
            <a:ln w="31750">
              <a:solidFill>
                <a:srgbClr val="C9A34E"/>
              </a:solidFill>
            </a:ln>
          </c:spPr>
          <c:cat>
            <c:strRef>
              <c:f>Sheet1!$A$2:$A$5</c:f>
              <c:strCache>
                <c:ptCount val="4"/>
                <c:pt idx="0">
                  <c:v>Lancement</c:v>
                </c:pt>
                <c:pt idx="1">
                  <c:v>Année 1</c:v>
                </c:pt>
                <c:pt idx="2">
                  <c:v>Année 2</c:v>
                </c:pt>
                <c:pt idx="3">
                  <c:v>Année 3</c:v>
                </c:pt>
              </c:strCache>
            </c:strRef>
          </c:cat>
          <c:val>
            <c:numRef>
              <c:f>Sheet1!$C$2:$C$5</c:f>
              <c:numCache>
                <c:formatCode>General</c:formatCode>
                <c:ptCount val="4"/>
                <c:pt idx="0">
                  <c:v>40</c:v>
                </c:pt>
                <c:pt idx="1">
                  <c:v>300</c:v>
                </c:pt>
                <c:pt idx="2">
                  <c:v>1200</c:v>
                </c:pt>
                <c:pt idx="3">
                  <c:v>3000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E2E5EA"/>
            </a:solidFill>
          </a:ln>
        </c:spPr>
        <c:txPr>
          <a:bodyPr/>
          <a:lstStyle/>
          <a:p>
            <a:pPr>
              <a:defRPr sz="1000">
                <a:solidFill>
                  <a:srgbClr val="5B7A9D"/>
                </a:solidFill>
                <a:latin typeface="Arial"/>
              </a:defRPr>
            </a:pPr>
          </a:p>
        </c:txPr>
        <c:crossAx val="2140495176"/>
        <c:crosses val="autoZero"/>
        <c:auto val="1"/>
        <c:lblAlgn val="ctr"/>
        <c:lblOffset val="100"/>
        <c:noMultiLvlLbl val="0"/>
      </c:catAx>
      <c:valAx>
        <c:axId val="2140495176"/>
        <c:scaling/>
        <c:delete val="0"/>
        <c:axPos val="l"/>
        <c:majorGridlines>
          <c:spPr>
            <a:ln w="6350">
              <a:solidFill>
                <a:srgbClr val="E2E5EA"/>
              </a:solidFill>
            </a:ln>
          </c:spPr>
        </c:majorGridlines>
        <c:majorTickMark val="none"/>
        <c:minorTickMark val="none"/>
        <c:tickLblPos val="nextTo"/>
        <c:spPr>
          <a:ln>
            <a:noFill/>
          </a:ln>
        </c:spPr>
        <c:txPr>
          <a:bodyPr/>
          <a:lstStyle/>
          <a:p>
            <a:pPr>
              <a:defRPr sz="900">
                <a:solidFill>
                  <a:srgbClr val="5B7A9D"/>
                </a:solidFill>
                <a:latin typeface="Arial"/>
              </a:defRPr>
            </a:pPr>
          </a:p>
        </c:txPr>
        <c:crossAx val="2118791784"/>
        <c:crosses val="autoZero"/>
      </c:valAx>
    </c:plotArea>
    <c:legend>
      <c:legendPos val="b"/>
      <c:layout/>
      <c:overlay val="0"/>
      <c:txPr>
        <a:bodyPr/>
        <a:lstStyle/>
        <a:p>
          <a:pPr>
            <a:defRPr sz="1000">
              <a:solidFill>
                <a:srgbClr val="5B7A9D"/>
              </a:solidFill>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g</c:v>
                </c:pt>
              </c:strCache>
            </c:strRef>
          </c:tx>
          <c:dPt>
            <c:idx val="0"/>
            <c:spPr>
              <a:solidFill>
                <a:srgbClr val="C9A34E"/>
              </a:solidFill>
              <a:ln>
                <a:noFill/>
              </a:ln>
            </c:spPr>
          </c:dPt>
          <c:dPt>
            <c:idx val="1"/>
            <c:spPr>
              <a:solidFill>
                <a:srgbClr val="E2E5EA"/>
              </a:solidFill>
              <a:ln>
                <a:noFill/>
              </a:ln>
            </c:spPr>
          </c:dPt>
          <c:cat>
            <c:strRef>
              <c:f>Sheet1!$A$2:$A$3</c:f>
              <c:strCache>
                <c:ptCount val="2"/>
                <c:pt idx="0">
                  <c:v>valeur</c:v>
                </c:pt>
                <c:pt idx="1">
                  <c:v>reste</c:v>
                </c:pt>
              </c:strCache>
            </c:strRef>
          </c:cat>
          <c:val>
            <c:numRef>
              <c:f>Sheet1!$B$2:$B$3</c:f>
              <c:numCache>
                <c:formatCode>General</c:formatCode>
                <c:ptCount val="2"/>
                <c:pt idx="0">
                  <c:v>4</c:v>
                </c:pt>
                <c:pt idx="1">
                  <c:v>96</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g</c:v>
                </c:pt>
              </c:strCache>
            </c:strRef>
          </c:tx>
          <c:dPt>
            <c:idx val="0"/>
            <c:spPr>
              <a:solidFill>
                <a:srgbClr val="0F2742"/>
              </a:solidFill>
              <a:ln>
                <a:noFill/>
              </a:ln>
            </c:spPr>
          </c:dPt>
          <c:dPt>
            <c:idx val="1"/>
            <c:spPr>
              <a:solidFill>
                <a:srgbClr val="E2E5EA"/>
              </a:solidFill>
              <a:ln>
                <a:noFill/>
              </a:ln>
            </c:spPr>
          </c:dPt>
          <c:cat>
            <c:strRef>
              <c:f>Sheet1!$A$2:$A$3</c:f>
              <c:strCache>
                <c:ptCount val="2"/>
                <c:pt idx="0">
                  <c:v>valeur</c:v>
                </c:pt>
                <c:pt idx="1">
                  <c:v>reste</c:v>
                </c:pt>
              </c:strCache>
            </c:strRef>
          </c:cat>
          <c:val>
            <c:numRef>
              <c:f>Sheet1!$B$2:$B$3</c:f>
              <c:numCache>
                <c:formatCode>General</c:formatCode>
                <c:ptCount val="2"/>
                <c:pt idx="0">
                  <c:v>45</c:v>
                </c:pt>
                <c:pt idx="1">
                  <c:v>55</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g</c:v>
                </c:pt>
              </c:strCache>
            </c:strRef>
          </c:tx>
          <c:dPt>
            <c:idx val="0"/>
            <c:spPr>
              <a:solidFill>
                <a:srgbClr val="1E3A5F"/>
              </a:solidFill>
              <a:ln>
                <a:noFill/>
              </a:ln>
            </c:spPr>
          </c:dPt>
          <c:dPt>
            <c:idx val="1"/>
            <c:spPr>
              <a:solidFill>
                <a:srgbClr val="E2E5EA"/>
              </a:solidFill>
              <a:ln>
                <a:noFill/>
              </a:ln>
            </c:spPr>
          </c:dPt>
          <c:cat>
            <c:strRef>
              <c:f>Sheet1!$A$2:$A$3</c:f>
              <c:strCache>
                <c:ptCount val="2"/>
                <c:pt idx="0">
                  <c:v>valeur</c:v>
                </c:pt>
                <c:pt idx="1">
                  <c:v>reste</c:v>
                </c:pt>
              </c:strCache>
            </c:strRef>
          </c:cat>
          <c:val>
            <c:numRef>
              <c:f>Sheet1!$B$2:$B$3</c:f>
              <c:numCache>
                <c:formatCode>General</c:formatCode>
                <c:ptCount val="2"/>
                <c:pt idx="0">
                  <c:v>60</c:v>
                </c:pt>
                <c:pt idx="1">
                  <c:v>40</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1371600"/>
            <a:ext cx="548640" cy="9144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9DB2C9"/>
                </a:solidFill>
                <a:latin typeface="Arial"/>
              </a:rPr>
              <a:t>BUSINESS PLAN &amp; DOSSIER DE PRÉSENTATION</a:t>
            </a:r>
          </a:p>
        </p:txBody>
      </p:sp>
      <p:sp>
        <p:nvSpPr>
          <p:cNvPr id="5" name="TextBox 4"/>
          <p:cNvSpPr txBox="1"/>
          <p:nvPr/>
        </p:nvSpPr>
        <p:spPr>
          <a:xfrm>
            <a:off x="566928" y="2148840"/>
            <a:ext cx="11057839" cy="2011680"/>
          </a:xfrm>
          <a:prstGeom prst="rect">
            <a:avLst/>
          </a:prstGeom>
          <a:noFill/>
        </p:spPr>
        <p:txBody>
          <a:bodyPr wrap="square" anchor="t" lIns="0" rIns="0" tIns="0" bIns="0">
            <a:spAutoFit/>
          </a:bodyPr>
          <a:lstStyle/>
          <a:p>
            <a:pPr algn="l">
              <a:lnSpc>
                <a:spcPct val="100000"/>
              </a:lnSpc>
              <a:spcBef>
                <a:spcPts val="0"/>
              </a:spcBef>
              <a:spcAft>
                <a:spcPts val="400"/>
              </a:spcAft>
            </a:pPr>
            <a:r>
              <a:rPr sz="5400" b="1" i="0">
                <a:solidFill>
                  <a:srgbClr val="F7F7F4"/>
                </a:solidFill>
                <a:latin typeface="Playfair Display"/>
              </a:rPr>
              <a:t>WallStreet Market Brief</a:t>
            </a:r>
          </a:p>
        </p:txBody>
      </p:sp>
      <p:sp>
        <p:nvSpPr>
          <p:cNvPr id="6" name="TextBox 5"/>
          <p:cNvSpPr txBox="1"/>
          <p:nvPr/>
        </p:nvSpPr>
        <p:spPr>
          <a:xfrm>
            <a:off x="566928" y="3977639"/>
            <a:ext cx="9229039" cy="822960"/>
          </a:xfrm>
          <a:prstGeom prst="rect">
            <a:avLst/>
          </a:prstGeom>
          <a:noFill/>
        </p:spPr>
        <p:txBody>
          <a:bodyPr wrap="square" anchor="t" lIns="0" rIns="0" tIns="0" bIns="0">
            <a:spAutoFit/>
          </a:bodyPr>
          <a:lstStyle/>
          <a:p>
            <a:pPr algn="l">
              <a:lnSpc>
                <a:spcPct val="115000"/>
              </a:lnSpc>
              <a:spcBef>
                <a:spcPts val="0"/>
              </a:spcBef>
              <a:spcAft>
                <a:spcPts val="400"/>
              </a:spcAft>
            </a:pPr>
            <a:r>
              <a:rPr sz="1800" b="0" i="1">
                <a:solidFill>
                  <a:srgbClr val="C7D2DE"/>
                </a:solidFill>
                <a:latin typeface="Arial"/>
              </a:rPr>
              <a:t>La newsletter financière premium de la Suisse francophone — vision, marché, modèle et exécution.</a:t>
            </a:r>
          </a:p>
        </p:txBody>
      </p:sp>
      <p:cxnSp>
        <p:nvCxnSpPr>
          <p:cNvPr id="7" name="Connector 6"/>
          <p:cNvCxnSpPr/>
          <p:nvPr/>
        </p:nvCxnSpPr>
        <p:spPr>
          <a:xfrm>
            <a:off x="566928" y="5806440"/>
            <a:ext cx="11057839" cy="0"/>
          </a:xfrm>
          <a:prstGeom prst="bentConnector3">
            <a:avLst/>
          </a:prstGeom>
          <a:ln w="12700">
            <a:solidFill>
              <a:srgbClr val="1E3A5F"/>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5943600"/>
            <a:ext cx="73152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34E"/>
                </a:solidFill>
                <a:latin typeface="Arial"/>
              </a:rPr>
              <a:t>wallstreetmarketbrief.ch</a:t>
            </a:r>
          </a:p>
        </p:txBody>
      </p:sp>
      <p:sp>
        <p:nvSpPr>
          <p:cNvPr id="9" name="TextBox 8"/>
          <p:cNvSpPr txBox="1"/>
          <p:nvPr/>
        </p:nvSpPr>
        <p:spPr>
          <a:xfrm>
            <a:off x="7967167" y="5943600"/>
            <a:ext cx="3657600" cy="365760"/>
          </a:xfrm>
          <a:prstGeom prst="rect">
            <a:avLst/>
          </a:prstGeom>
          <a:noFill/>
        </p:spPr>
        <p:txBody>
          <a:bodyPr wrap="square" anchor="t" lIns="0" rIns="0" tIns="0" bIns="0">
            <a:spAutoFit/>
          </a:bodyPr>
          <a:lstStyle/>
          <a:p>
            <a:pPr algn="r">
              <a:lnSpc>
                <a:spcPct val="100000"/>
              </a:lnSpc>
              <a:spcBef>
                <a:spcPts val="0"/>
              </a:spcBef>
              <a:spcAft>
                <a:spcPts val="400"/>
              </a:spcAft>
            </a:pPr>
            <a:r>
              <a:rPr sz="1200" b="0" i="0">
                <a:solidFill>
                  <a:srgbClr val="9DB2C9"/>
                </a:solidFill>
                <a:latin typeface="Arial"/>
              </a:rPr>
              <a:t>Juin 2026 · Confidentiel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Sommaire</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SOMMAIRE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453896"/>
            <a:ext cx="731520" cy="640080"/>
          </a:xfrm>
          <a:prstGeom prst="rect">
            <a:avLst/>
          </a:prstGeom>
          <a:noFill/>
        </p:spPr>
        <p:txBody>
          <a:bodyPr wrap="square" anchor="ctr" lIns="0" rIns="0" tIns="0" bIns="0">
            <a:spAutoFit/>
          </a:bodyPr>
          <a:lstStyle/>
          <a:p>
            <a:pPr algn="l">
              <a:lnSpc>
                <a:spcPct val="100000"/>
              </a:lnSpc>
              <a:spcBef>
                <a:spcPts val="0"/>
              </a:spcBef>
              <a:spcAft>
                <a:spcPts val="400"/>
              </a:spcAft>
            </a:pPr>
            <a:r>
              <a:rPr sz="2600" b="1" i="0">
                <a:solidFill>
                  <a:srgbClr val="C9A34E"/>
                </a:solidFill>
                <a:latin typeface="Playfair Display"/>
              </a:rPr>
              <a:t>1</a:t>
            </a:r>
          </a:p>
        </p:txBody>
      </p:sp>
      <p:sp>
        <p:nvSpPr>
          <p:cNvPr id="8" name="TextBox 7"/>
          <p:cNvSpPr txBox="1"/>
          <p:nvPr/>
        </p:nvSpPr>
        <p:spPr>
          <a:xfrm>
            <a:off x="1344168" y="1472184"/>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La vision</a:t>
            </a:r>
          </a:p>
        </p:txBody>
      </p:sp>
      <p:sp>
        <p:nvSpPr>
          <p:cNvPr id="9" name="TextBox 8"/>
          <p:cNvSpPr txBox="1"/>
          <p:nvPr/>
        </p:nvSpPr>
        <p:spPr>
          <a:xfrm>
            <a:off x="1344168" y="1819656"/>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5B7A9D"/>
                </a:solidFill>
                <a:latin typeface="Arial"/>
              </a:rPr>
              <a:t>Résumé, problème, solution, valeurs</a:t>
            </a:r>
          </a:p>
        </p:txBody>
      </p:sp>
      <p:cxnSp>
        <p:nvCxnSpPr>
          <p:cNvPr id="10" name="Connector 9"/>
          <p:cNvCxnSpPr/>
          <p:nvPr/>
        </p:nvCxnSpPr>
        <p:spPr>
          <a:xfrm>
            <a:off x="1344168" y="2185416"/>
            <a:ext cx="447735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66928" y="2295144"/>
            <a:ext cx="731520" cy="640080"/>
          </a:xfrm>
          <a:prstGeom prst="rect">
            <a:avLst/>
          </a:prstGeom>
          <a:noFill/>
        </p:spPr>
        <p:txBody>
          <a:bodyPr wrap="square" anchor="ctr" lIns="0" rIns="0" tIns="0" bIns="0">
            <a:spAutoFit/>
          </a:bodyPr>
          <a:lstStyle/>
          <a:p>
            <a:pPr algn="l">
              <a:lnSpc>
                <a:spcPct val="100000"/>
              </a:lnSpc>
              <a:spcBef>
                <a:spcPts val="0"/>
              </a:spcBef>
              <a:spcAft>
                <a:spcPts val="400"/>
              </a:spcAft>
            </a:pPr>
            <a:r>
              <a:rPr sz="2600" b="1" i="0">
                <a:solidFill>
                  <a:srgbClr val="C9A34E"/>
                </a:solidFill>
                <a:latin typeface="Playfair Display"/>
              </a:rPr>
              <a:t>2</a:t>
            </a:r>
          </a:p>
        </p:txBody>
      </p:sp>
      <p:sp>
        <p:nvSpPr>
          <p:cNvPr id="12" name="TextBox 11"/>
          <p:cNvSpPr txBox="1"/>
          <p:nvPr/>
        </p:nvSpPr>
        <p:spPr>
          <a:xfrm>
            <a:off x="1344168" y="2313432"/>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L'offre produit</a:t>
            </a:r>
          </a:p>
        </p:txBody>
      </p:sp>
      <p:sp>
        <p:nvSpPr>
          <p:cNvPr id="13" name="TextBox 12"/>
          <p:cNvSpPr txBox="1"/>
          <p:nvPr/>
        </p:nvSpPr>
        <p:spPr>
          <a:xfrm>
            <a:off x="1344168" y="2660904"/>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5B7A9D"/>
                </a:solidFill>
                <a:latin typeface="Arial"/>
              </a:rPr>
              <a:t>Briefings, modules, thèmes, social</a:t>
            </a:r>
          </a:p>
        </p:txBody>
      </p:sp>
      <p:cxnSp>
        <p:nvCxnSpPr>
          <p:cNvPr id="14" name="Connector 13"/>
          <p:cNvCxnSpPr/>
          <p:nvPr/>
        </p:nvCxnSpPr>
        <p:spPr>
          <a:xfrm>
            <a:off x="1344168" y="3026664"/>
            <a:ext cx="447735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3136392"/>
            <a:ext cx="731520" cy="640080"/>
          </a:xfrm>
          <a:prstGeom prst="rect">
            <a:avLst/>
          </a:prstGeom>
          <a:noFill/>
        </p:spPr>
        <p:txBody>
          <a:bodyPr wrap="square" anchor="ctr" lIns="0" rIns="0" tIns="0" bIns="0">
            <a:spAutoFit/>
          </a:bodyPr>
          <a:lstStyle/>
          <a:p>
            <a:pPr algn="l">
              <a:lnSpc>
                <a:spcPct val="100000"/>
              </a:lnSpc>
              <a:spcBef>
                <a:spcPts val="0"/>
              </a:spcBef>
              <a:spcAft>
                <a:spcPts val="400"/>
              </a:spcAft>
            </a:pPr>
            <a:r>
              <a:rPr sz="2600" b="1" i="0">
                <a:solidFill>
                  <a:srgbClr val="C9A34E"/>
                </a:solidFill>
                <a:latin typeface="Playfair Display"/>
              </a:rPr>
              <a:t>3</a:t>
            </a:r>
          </a:p>
        </p:txBody>
      </p:sp>
      <p:sp>
        <p:nvSpPr>
          <p:cNvPr id="16" name="TextBox 15"/>
          <p:cNvSpPr txBox="1"/>
          <p:nvPr/>
        </p:nvSpPr>
        <p:spPr>
          <a:xfrm>
            <a:off x="1344168" y="3154680"/>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Marché &amp; opportunité</a:t>
            </a:r>
          </a:p>
        </p:txBody>
      </p:sp>
      <p:sp>
        <p:nvSpPr>
          <p:cNvPr id="17" name="TextBox 16"/>
          <p:cNvSpPr txBox="1"/>
          <p:nvPr/>
        </p:nvSpPr>
        <p:spPr>
          <a:xfrm>
            <a:off x="1344168" y="3502152"/>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5B7A9D"/>
                </a:solidFill>
                <a:latin typeface="Arial"/>
              </a:rPr>
              <a:t>TAM/SAM/SOM, tendances, concurrence</a:t>
            </a:r>
          </a:p>
        </p:txBody>
      </p:sp>
      <p:cxnSp>
        <p:nvCxnSpPr>
          <p:cNvPr id="18" name="Connector 17"/>
          <p:cNvCxnSpPr/>
          <p:nvPr/>
        </p:nvCxnSpPr>
        <p:spPr>
          <a:xfrm>
            <a:off x="1344168" y="3867912"/>
            <a:ext cx="447735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70167" y="1453896"/>
            <a:ext cx="731520" cy="640080"/>
          </a:xfrm>
          <a:prstGeom prst="rect">
            <a:avLst/>
          </a:prstGeom>
          <a:noFill/>
        </p:spPr>
        <p:txBody>
          <a:bodyPr wrap="square" anchor="ctr" lIns="0" rIns="0" tIns="0" bIns="0">
            <a:spAutoFit/>
          </a:bodyPr>
          <a:lstStyle/>
          <a:p>
            <a:pPr algn="l">
              <a:lnSpc>
                <a:spcPct val="100000"/>
              </a:lnSpc>
              <a:spcBef>
                <a:spcPts val="0"/>
              </a:spcBef>
              <a:spcAft>
                <a:spcPts val="400"/>
              </a:spcAft>
            </a:pPr>
            <a:r>
              <a:rPr sz="2600" b="1" i="0">
                <a:solidFill>
                  <a:srgbClr val="C9A34E"/>
                </a:solidFill>
                <a:latin typeface="Playfair Display"/>
              </a:rPr>
              <a:t>4</a:t>
            </a:r>
          </a:p>
        </p:txBody>
      </p:sp>
      <p:sp>
        <p:nvSpPr>
          <p:cNvPr id="20" name="TextBox 19"/>
          <p:cNvSpPr txBox="1"/>
          <p:nvPr/>
        </p:nvSpPr>
        <p:spPr>
          <a:xfrm>
            <a:off x="7147407" y="1472184"/>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Modèle économique</a:t>
            </a:r>
          </a:p>
        </p:txBody>
      </p:sp>
      <p:sp>
        <p:nvSpPr>
          <p:cNvPr id="21" name="TextBox 20"/>
          <p:cNvSpPr txBox="1"/>
          <p:nvPr/>
        </p:nvSpPr>
        <p:spPr>
          <a:xfrm>
            <a:off x="7147407" y="1819656"/>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5B7A9D"/>
                </a:solidFill>
                <a:latin typeface="Arial"/>
              </a:rPr>
              <a:t>Abonnement, économie unitaire, funnel</a:t>
            </a:r>
          </a:p>
        </p:txBody>
      </p:sp>
      <p:cxnSp>
        <p:nvCxnSpPr>
          <p:cNvPr id="22" name="Connector 21"/>
          <p:cNvCxnSpPr/>
          <p:nvPr/>
        </p:nvCxnSpPr>
        <p:spPr>
          <a:xfrm>
            <a:off x="7147407" y="2185416"/>
            <a:ext cx="4477360"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70167" y="2295144"/>
            <a:ext cx="731520" cy="640080"/>
          </a:xfrm>
          <a:prstGeom prst="rect">
            <a:avLst/>
          </a:prstGeom>
          <a:noFill/>
        </p:spPr>
        <p:txBody>
          <a:bodyPr wrap="square" anchor="ctr" lIns="0" rIns="0" tIns="0" bIns="0">
            <a:spAutoFit/>
          </a:bodyPr>
          <a:lstStyle/>
          <a:p>
            <a:pPr algn="l">
              <a:lnSpc>
                <a:spcPct val="100000"/>
              </a:lnSpc>
              <a:spcBef>
                <a:spcPts val="0"/>
              </a:spcBef>
              <a:spcAft>
                <a:spcPts val="400"/>
              </a:spcAft>
            </a:pPr>
            <a:r>
              <a:rPr sz="2600" b="1" i="0">
                <a:solidFill>
                  <a:srgbClr val="C9A34E"/>
                </a:solidFill>
                <a:latin typeface="Playfair Display"/>
              </a:rPr>
              <a:t>5</a:t>
            </a:r>
          </a:p>
        </p:txBody>
      </p:sp>
      <p:sp>
        <p:nvSpPr>
          <p:cNvPr id="24" name="TextBox 23"/>
          <p:cNvSpPr txBox="1"/>
          <p:nvPr/>
        </p:nvSpPr>
        <p:spPr>
          <a:xfrm>
            <a:off x="7147407" y="2313432"/>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Produit, technologie &amp; site</a:t>
            </a:r>
          </a:p>
        </p:txBody>
      </p:sp>
      <p:sp>
        <p:nvSpPr>
          <p:cNvPr id="25" name="TextBox 24"/>
          <p:cNvSpPr txBox="1"/>
          <p:nvPr/>
        </p:nvSpPr>
        <p:spPr>
          <a:xfrm>
            <a:off x="7147407" y="2660904"/>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5B7A9D"/>
                </a:solidFill>
                <a:latin typeface="Arial"/>
              </a:rPr>
              <a:t>Plateforme, pipeline IA, CMS, identité</a:t>
            </a:r>
          </a:p>
        </p:txBody>
      </p:sp>
      <p:cxnSp>
        <p:nvCxnSpPr>
          <p:cNvPr id="26" name="Connector 25"/>
          <p:cNvCxnSpPr/>
          <p:nvPr/>
        </p:nvCxnSpPr>
        <p:spPr>
          <a:xfrm>
            <a:off x="7147407" y="3026664"/>
            <a:ext cx="4477360"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70167" y="3136392"/>
            <a:ext cx="731520" cy="640080"/>
          </a:xfrm>
          <a:prstGeom prst="rect">
            <a:avLst/>
          </a:prstGeom>
          <a:noFill/>
        </p:spPr>
        <p:txBody>
          <a:bodyPr wrap="square" anchor="ctr" lIns="0" rIns="0" tIns="0" bIns="0">
            <a:spAutoFit/>
          </a:bodyPr>
          <a:lstStyle/>
          <a:p>
            <a:pPr algn="l">
              <a:lnSpc>
                <a:spcPct val="100000"/>
              </a:lnSpc>
              <a:spcBef>
                <a:spcPts val="0"/>
              </a:spcBef>
              <a:spcAft>
                <a:spcPts val="400"/>
              </a:spcAft>
            </a:pPr>
            <a:r>
              <a:rPr sz="2600" b="1" i="0">
                <a:solidFill>
                  <a:srgbClr val="C9A34E"/>
                </a:solidFill>
                <a:latin typeface="Playfair Display"/>
              </a:rPr>
              <a:t>6</a:t>
            </a:r>
          </a:p>
        </p:txBody>
      </p:sp>
      <p:sp>
        <p:nvSpPr>
          <p:cNvPr id="28" name="TextBox 27"/>
          <p:cNvSpPr txBox="1"/>
          <p:nvPr/>
        </p:nvSpPr>
        <p:spPr>
          <a:xfrm>
            <a:off x="7147407" y="3154680"/>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Finances &amp; risques</a:t>
            </a:r>
          </a:p>
        </p:txBody>
      </p:sp>
      <p:sp>
        <p:nvSpPr>
          <p:cNvPr id="29" name="TextBox 28"/>
          <p:cNvSpPr txBox="1"/>
          <p:nvPr/>
        </p:nvSpPr>
        <p:spPr>
          <a:xfrm>
            <a:off x="7147407" y="3502152"/>
            <a:ext cx="4477359" cy="36576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5B7A9D"/>
                </a:solidFill>
                <a:latin typeface="Arial"/>
              </a:rPr>
              <a:t>Projections, scénarios, KPIs, feuille de route</a:t>
            </a:r>
          </a:p>
        </p:txBody>
      </p:sp>
      <p:cxnSp>
        <p:nvCxnSpPr>
          <p:cNvPr id="30" name="Connector 29"/>
          <p:cNvCxnSpPr/>
          <p:nvPr/>
        </p:nvCxnSpPr>
        <p:spPr>
          <a:xfrm>
            <a:off x="7147407" y="3867912"/>
            <a:ext cx="4477360"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33" name="TextBox 32"/>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03120"/>
            <a:ext cx="2743200" cy="2011680"/>
          </a:xfrm>
          <a:prstGeom prst="rect">
            <a:avLst/>
          </a:prstGeom>
          <a:noFill/>
        </p:spPr>
        <p:txBody>
          <a:bodyPr wrap="square" anchor="ctr" lIns="0" rIns="0" tIns="0" bIns="0">
            <a:spAutoFit/>
          </a:bodyPr>
          <a:lstStyle/>
          <a:p>
            <a:pPr algn="l">
              <a:lnSpc>
                <a:spcPct val="100000"/>
              </a:lnSpc>
              <a:spcBef>
                <a:spcPts val="0"/>
              </a:spcBef>
              <a:spcAft>
                <a:spcPts val="400"/>
              </a:spcAft>
            </a:pPr>
            <a:r>
              <a:rPr sz="12000" b="1" i="0">
                <a:solidFill>
                  <a:srgbClr val="1B3A5C"/>
                </a:solidFill>
                <a:latin typeface="Playfair Display"/>
              </a:rPr>
              <a:t>1</a:t>
            </a:r>
          </a:p>
        </p:txBody>
      </p:sp>
      <p:sp>
        <p:nvSpPr>
          <p:cNvPr id="4" name="Rectangle 3"/>
          <p:cNvSpPr/>
          <p:nvPr/>
        </p:nvSpPr>
        <p:spPr>
          <a:xfrm>
            <a:off x="566928" y="3977639"/>
            <a:ext cx="548640" cy="82296"/>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206240"/>
            <a:ext cx="11057839"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7F7F4"/>
                </a:solidFill>
                <a:latin typeface="Playfair Display"/>
              </a:rPr>
              <a:t>La vision</a:t>
            </a:r>
          </a:p>
        </p:txBody>
      </p:sp>
      <p:sp>
        <p:nvSpPr>
          <p:cNvPr id="6" name="TextBox 5"/>
          <p:cNvSpPr txBox="1"/>
          <p:nvPr/>
        </p:nvSpPr>
        <p:spPr>
          <a:xfrm>
            <a:off x="566928" y="5074920"/>
            <a:ext cx="9686239" cy="731520"/>
          </a:xfrm>
          <a:prstGeom prst="rect">
            <a:avLst/>
          </a:prstGeom>
          <a:noFill/>
        </p:spPr>
        <p:txBody>
          <a:bodyPr wrap="square" anchor="t" lIns="0" rIns="0" tIns="0" bIns="0">
            <a:spAutoFit/>
          </a:bodyPr>
          <a:lstStyle/>
          <a:p>
            <a:pPr algn="l">
              <a:lnSpc>
                <a:spcPct val="120000"/>
              </a:lnSpc>
              <a:spcBef>
                <a:spcPts val="0"/>
              </a:spcBef>
              <a:spcAft>
                <a:spcPts val="400"/>
              </a:spcAft>
            </a:pPr>
            <a:r>
              <a:rPr sz="1500" b="0" i="1">
                <a:solidFill>
                  <a:srgbClr val="9DB2C9"/>
                </a:solidFill>
                <a:latin typeface="Arial"/>
              </a:rPr>
              <a:t>Transformer le bruit permanent des marchés en un brief clair, court et structuré.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Résumé exécutif</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LA VISION</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Une niche claire et peu servie, une rigueur éditoriale absolue, une production industrialisée par l'IA.</a:t>
            </a:r>
          </a:p>
        </p:txBody>
      </p:sp>
      <p:sp>
        <p:nvSpPr>
          <p:cNvPr id="8" name="TextBox 7"/>
          <p:cNvSpPr txBox="1"/>
          <p:nvPr/>
        </p:nvSpPr>
        <p:spPr>
          <a:xfrm>
            <a:off x="566928"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5000" b="1" i="0">
                <a:solidFill>
                  <a:srgbClr val="C9A34E"/>
                </a:solidFill>
                <a:latin typeface="Playfair Display"/>
              </a:rPr>
              <a:t>49</a:t>
            </a:r>
          </a:p>
        </p:txBody>
      </p:sp>
      <p:sp>
        <p:nvSpPr>
          <p:cNvPr id="9" name="TextBox 8"/>
          <p:cNvSpPr txBox="1"/>
          <p:nvPr/>
        </p:nvSpPr>
        <p:spPr>
          <a:xfrm>
            <a:off x="566928"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CHF / MOIS</a:t>
            </a:r>
          </a:p>
        </p:txBody>
      </p:sp>
      <p:sp>
        <p:nvSpPr>
          <p:cNvPr id="10" name="TextBox 9"/>
          <p:cNvSpPr txBox="1"/>
          <p:nvPr/>
        </p:nvSpPr>
        <p:spPr>
          <a:xfrm>
            <a:off x="566928"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Abonnement premium récurrent, assumé pour un public à forte valeur.</a:t>
            </a:r>
          </a:p>
        </p:txBody>
      </p:sp>
      <p:cxnSp>
        <p:nvCxnSpPr>
          <p:cNvPr id="11" name="Connector 10"/>
          <p:cNvCxnSpPr/>
          <p:nvPr/>
        </p:nvCxnSpPr>
        <p:spPr>
          <a:xfrm>
            <a:off x="4176674" y="2231136"/>
            <a:ext cx="0" cy="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05274"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3200" b="1" i="0">
                <a:solidFill>
                  <a:srgbClr val="0F2742"/>
                </a:solidFill>
                <a:latin typeface="Playfair Display"/>
              </a:rPr>
              <a:t>2 500–3 500</a:t>
            </a:r>
          </a:p>
        </p:txBody>
      </p:sp>
      <p:sp>
        <p:nvSpPr>
          <p:cNvPr id="13" name="TextBox 12"/>
          <p:cNvSpPr txBox="1"/>
          <p:nvPr/>
        </p:nvSpPr>
        <p:spPr>
          <a:xfrm>
            <a:off x="4405274"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ABONNÉS VISÉS À 3 ANS</a:t>
            </a:r>
          </a:p>
        </p:txBody>
      </p:sp>
      <p:sp>
        <p:nvSpPr>
          <p:cNvPr id="14" name="TextBox 13"/>
          <p:cNvSpPr txBox="1"/>
          <p:nvPr/>
        </p:nvSpPr>
        <p:spPr>
          <a:xfrm>
            <a:off x="4405274"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Un noyau d'abonnés payants fidèles sur le marché romand puis francophone.</a:t>
            </a:r>
          </a:p>
        </p:txBody>
      </p:sp>
      <p:cxnSp>
        <p:nvCxnSpPr>
          <p:cNvPr id="15" name="Connector 14"/>
          <p:cNvCxnSpPr/>
          <p:nvPr/>
        </p:nvCxnSpPr>
        <p:spPr>
          <a:xfrm>
            <a:off x="8015020" y="2231136"/>
            <a:ext cx="0" cy="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43620"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3200" b="1" i="0">
                <a:solidFill>
                  <a:srgbClr val="0F2742"/>
                </a:solidFill>
                <a:latin typeface="Playfair Display"/>
              </a:rPr>
              <a:t>≈ 1,5–2 M</a:t>
            </a:r>
          </a:p>
        </p:txBody>
      </p:sp>
      <p:sp>
        <p:nvSpPr>
          <p:cNvPr id="17" name="TextBox 16"/>
          <p:cNvSpPr txBox="1"/>
          <p:nvPr/>
        </p:nvSpPr>
        <p:spPr>
          <a:xfrm>
            <a:off x="8243620"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CHF DE REVENU ANNUALISÉ</a:t>
            </a:r>
          </a:p>
        </p:txBody>
      </p:sp>
      <p:sp>
        <p:nvSpPr>
          <p:cNvPr id="18" name="TextBox 17"/>
          <p:cNvSpPr txBox="1"/>
          <p:nvPr/>
        </p:nvSpPr>
        <p:spPr>
          <a:xfrm>
            <a:off x="8243620"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Run-rate visé à 3 ans, structure légère et rentable.</a:t>
            </a:r>
          </a:p>
        </p:txBody>
      </p:sp>
      <p:cxnSp>
        <p:nvCxnSpPr>
          <p:cNvPr id="19" name="Connector 18"/>
          <p:cNvCxnSpPr/>
          <p:nvPr/>
        </p:nvCxnSpPr>
        <p:spPr>
          <a:xfrm>
            <a:off x="4176674" y="2322576"/>
            <a:ext cx="0" cy="146304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015020" y="2322576"/>
            <a:ext cx="0" cy="146304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080760"/>
            <a:ext cx="11057839" cy="320040"/>
          </a:xfrm>
          <a:prstGeom prst="rect">
            <a:avLst/>
          </a:prstGeom>
          <a:noFill/>
        </p:spPr>
        <p:txBody>
          <a:bodyPr wrap="square" anchor="t" lIns="0" rIns="0" tIns="0" bIns="0">
            <a:spAutoFit/>
          </a:bodyPr>
          <a:lstStyle/>
          <a:p>
            <a:pPr algn="l">
              <a:lnSpc>
                <a:spcPct val="105000"/>
              </a:lnSpc>
              <a:spcBef>
                <a:spcPts val="0"/>
              </a:spcBef>
              <a:spcAft>
                <a:spcPts val="400"/>
              </a:spcAft>
            </a:pPr>
            <a:r>
              <a:rPr sz="950" b="0" i="0">
                <a:solidFill>
                  <a:srgbClr val="5B7A9D"/>
                </a:solidFill>
                <a:latin typeface="Arial"/>
              </a:rPr>
              <a:t>WMB transforme le bruit des marchés en un brief lisible en quelques minutes, pour des francophones qui veulent comprendre sans y passer leurs journées. Positionnement strictement informatif et éducatif — jamais de conseil.</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Vision &amp; mission</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LA VISION</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362456"/>
            <a:ext cx="6634703" cy="4809744"/>
          </a:xfrm>
          <a:prstGeom prst="rect">
            <a:avLst/>
          </a:prstGeom>
          <a:noFill/>
        </p:spPr>
        <p:txBody>
          <a:bodyPr wrap="square" anchor="t" lIns="0" rIns="0" tIns="0" bIns="0">
            <a:spAutoFit/>
          </a:bodyPr>
          <a:lstStyle/>
          <a:p>
            <a:pPr algn="l">
              <a:lnSpc>
                <a:spcPct val="118000"/>
              </a:lnSpc>
              <a:spcBef>
                <a:spcPts val="0"/>
              </a:spcBef>
              <a:spcAft>
                <a:spcPts val="1000"/>
              </a:spcAft>
            </a:pPr>
            <a:r>
              <a:rPr sz="1200" b="0" i="0">
                <a:solidFill>
                  <a:srgbClr val="1A1A1A"/>
                </a:solidFill>
                <a:latin typeface="Arial"/>
              </a:rPr>
              <a:t>Faire de WMB la référence francophone du brief de marché : aussi rigoureux qu'une salle de marché, aussi pédagogique qu'un bon professeur, et assez concis pour tenir dans un café du matin.</a:t>
            </a:r>
          </a:p>
          <a:p>
            <a:pPr algn="l">
              <a:lnSpc>
                <a:spcPct val="118000"/>
              </a:lnSpc>
              <a:spcBef>
                <a:spcPts val="0"/>
              </a:spcBef>
              <a:spcAft>
                <a:spcPts val="1000"/>
              </a:spcAft>
            </a:pPr>
            <a:r>
              <a:rPr sz="1200" b="0" i="0">
                <a:solidFill>
                  <a:srgbClr val="1A1A1A"/>
                </a:solidFill>
                <a:latin typeface="Arial"/>
              </a:rPr>
              <a:t>À terme, WMB veut être le premier réflexe du francophone qui veut comprendre les marchés — l'équivalent suisse et francophone des grandes newsletters financières anglo-saxonnes.</a:t>
            </a:r>
          </a:p>
          <a:p>
            <a:pPr algn="l">
              <a:lnSpc>
                <a:spcPct val="118000"/>
              </a:lnSpc>
              <a:spcBef>
                <a:spcPts val="0"/>
              </a:spcBef>
              <a:spcAft>
                <a:spcPts val="1000"/>
              </a:spcAft>
            </a:pPr>
            <a:r>
              <a:rPr sz="1200" b="0" i="0">
                <a:solidFill>
                  <a:srgbClr val="1A1A1A"/>
                </a:solidFill>
                <a:latin typeface="Arial"/>
              </a:rPr>
              <a:t>Sa mission : démocratiser une information financière de qualité, claire et honnête, pour un public aujourd'hui largement exclu. Ni jargon réservé aux professionnels, ni contenus racoleurs promettant des gains. WMB rend le lecteur autonome dans sa lecture des marchés.</a:t>
            </a:r>
          </a:p>
        </p:txBody>
      </p:sp>
      <p:sp>
        <p:nvSpPr>
          <p:cNvPr id="8" name="Rectangle 7"/>
          <p:cNvSpPr/>
          <p:nvPr/>
        </p:nvSpPr>
        <p:spPr>
          <a:xfrm>
            <a:off x="7658831" y="1499616"/>
            <a:ext cx="91440" cy="173736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14863" y="1453896"/>
            <a:ext cx="3709903" cy="2194560"/>
          </a:xfrm>
          <a:prstGeom prst="rect">
            <a:avLst/>
          </a:prstGeom>
          <a:noFill/>
        </p:spPr>
        <p:txBody>
          <a:bodyPr wrap="square" anchor="t" lIns="0" rIns="0" tIns="0" bIns="0">
            <a:spAutoFit/>
          </a:bodyPr>
          <a:lstStyle/>
          <a:p>
            <a:pPr algn="l">
              <a:lnSpc>
                <a:spcPct val="120000"/>
              </a:lnSpc>
              <a:spcBef>
                <a:spcPts val="0"/>
              </a:spcBef>
              <a:spcAft>
                <a:spcPts val="400"/>
              </a:spcAft>
            </a:pPr>
            <a:r>
              <a:rPr sz="1900" b="0" i="1">
                <a:solidFill>
                  <a:srgbClr val="0F2742"/>
                </a:solidFill>
                <a:latin typeface="Playfair Display"/>
              </a:rPr>
              <a:t>Aussi rigoureux qu'une salle de marché, aussi pédagogique qu'un bon professeur.</a:t>
            </a:r>
          </a:p>
        </p:txBody>
      </p:sp>
      <p:cxnSp>
        <p:nvCxnSpPr>
          <p:cNvPr id="10" name="Connector 9"/>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2" name="TextBox 11"/>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Cinq valeurs fondatrices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LA VISION</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Clarté, rigueur, neutralité, pédagogie, indépendance.</a:t>
            </a:r>
          </a:p>
        </p:txBody>
      </p:sp>
      <p:sp>
        <p:nvSpPr>
          <p:cNvPr id="8" name="Rounded Rectangle 7"/>
          <p:cNvSpPr/>
          <p:nvPr/>
        </p:nvSpPr>
        <p:spPr>
          <a:xfrm>
            <a:off x="566928"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194767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CLARTÉ</a:t>
            </a:r>
          </a:p>
        </p:txBody>
      </p:sp>
      <p:sp>
        <p:nvSpPr>
          <p:cNvPr id="11" name="TextBox 10"/>
          <p:cNvSpPr txBox="1"/>
          <p:nvPr/>
        </p:nvSpPr>
        <p:spPr>
          <a:xfrm>
            <a:off x="1170432"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Sans bruit</a:t>
            </a:r>
          </a:p>
        </p:txBody>
      </p:sp>
      <p:sp>
        <p:nvSpPr>
          <p:cNvPr id="12" name="TextBox 11"/>
          <p:cNvSpPr txBox="1"/>
          <p:nvPr/>
        </p:nvSpPr>
        <p:spPr>
          <a:xfrm>
            <a:off x="768096"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Sans blabla, sans jargon non expliqué. L'essentiel, lisible en quelques minutes.</a:t>
            </a:r>
          </a:p>
          <a:p>
            <a:pPr algn="l">
              <a:lnSpc>
                <a:spcPct val="108000"/>
              </a:lnSpc>
              <a:spcBef>
                <a:spcPts val="0"/>
              </a:spcBef>
              <a:spcAft>
                <a:spcPts val="500"/>
              </a:spcAft>
            </a:pPr>
            <a:r>
              <a:rPr sz="1050" b="0" i="0">
                <a:solidFill>
                  <a:srgbClr val="1A1A1A"/>
                </a:solidFill>
                <a:latin typeface="Arial"/>
              </a:rPr>
              <a:t/>
            </a:r>
          </a:p>
        </p:txBody>
      </p:sp>
      <p:sp>
        <p:nvSpPr>
          <p:cNvPr id="13" name="Rounded Rectangle 12"/>
          <p:cNvSpPr/>
          <p:nvPr/>
        </p:nvSpPr>
        <p:spPr>
          <a:xfrm>
            <a:off x="4374794"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5962" y="194767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8298"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RIGUEUR</a:t>
            </a:r>
          </a:p>
        </p:txBody>
      </p:sp>
      <p:sp>
        <p:nvSpPr>
          <p:cNvPr id="16" name="TextBox 15"/>
          <p:cNvSpPr txBox="1"/>
          <p:nvPr/>
        </p:nvSpPr>
        <p:spPr>
          <a:xfrm>
            <a:off x="4978298"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Chaque chiffre sourcé</a:t>
            </a:r>
          </a:p>
        </p:txBody>
      </p:sp>
      <p:sp>
        <p:nvSpPr>
          <p:cNvPr id="17" name="TextBox 16"/>
          <p:cNvSpPr txBox="1"/>
          <p:nvPr/>
        </p:nvSpPr>
        <p:spPr>
          <a:xfrm>
            <a:off x="4575962"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Daté et vérifié sur au moins deux sources. La fiabilité est un actif de marque.</a:t>
            </a:r>
          </a:p>
          <a:p>
            <a:pPr algn="l">
              <a:lnSpc>
                <a:spcPct val="108000"/>
              </a:lnSpc>
              <a:spcBef>
                <a:spcPts val="0"/>
              </a:spcBef>
              <a:spcAft>
                <a:spcPts val="500"/>
              </a:spcAft>
            </a:pPr>
            <a:r>
              <a:rPr sz="1050" b="0" i="0">
                <a:solidFill>
                  <a:srgbClr val="1A1A1A"/>
                </a:solidFill>
                <a:latin typeface="Arial"/>
              </a:rPr>
              <a:t/>
            </a:r>
          </a:p>
        </p:txBody>
      </p:sp>
      <p:sp>
        <p:nvSpPr>
          <p:cNvPr id="18" name="Rounded Rectangle 17"/>
          <p:cNvSpPr/>
          <p:nvPr/>
        </p:nvSpPr>
        <p:spPr>
          <a:xfrm>
            <a:off x="8182660"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83828" y="194767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6164"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NEUTRALITÉ</a:t>
            </a:r>
          </a:p>
        </p:txBody>
      </p:sp>
      <p:sp>
        <p:nvSpPr>
          <p:cNvPr id="21" name="TextBox 20"/>
          <p:cNvSpPr txBox="1"/>
          <p:nvPr/>
        </p:nvSpPr>
        <p:spPr>
          <a:xfrm>
            <a:off x="8786164"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Aucun biais</a:t>
            </a:r>
          </a:p>
        </p:txBody>
      </p:sp>
      <p:sp>
        <p:nvSpPr>
          <p:cNvPr id="22" name="TextBox 21"/>
          <p:cNvSpPr txBox="1"/>
          <p:nvPr/>
        </p:nvSpPr>
        <p:spPr>
          <a:xfrm>
            <a:off x="8383828"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Aucune opinion directionnelle, aucun biais commercial caché. La valeur vient de l'abonné.</a:t>
            </a:r>
          </a:p>
          <a:p>
            <a:pPr algn="l">
              <a:lnSpc>
                <a:spcPct val="108000"/>
              </a:lnSpc>
              <a:spcBef>
                <a:spcPts val="0"/>
              </a:spcBef>
              <a:spcAft>
                <a:spcPts val="500"/>
              </a:spcAft>
            </a:pPr>
            <a:r>
              <a:rPr sz="1050" b="0" i="0">
                <a:solidFill>
                  <a:srgbClr val="1A1A1A"/>
                </a:solidFill>
                <a:latin typeface="Arial"/>
              </a:rPr>
              <a:t/>
            </a:r>
          </a:p>
        </p:txBody>
      </p:sp>
      <p:cxnSp>
        <p:nvCxnSpPr>
          <p:cNvPr id="23" name="Connector 22"/>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5" name="TextBox 24"/>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 problème</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LA VISION</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362456"/>
            <a:ext cx="6634703" cy="4809744"/>
          </a:xfrm>
          <a:prstGeom prst="rect">
            <a:avLst/>
          </a:prstGeom>
          <a:noFill/>
        </p:spPr>
        <p:txBody>
          <a:bodyPr wrap="square" anchor="t" lIns="0" rIns="0" tIns="0" bIns="0">
            <a:spAutoFit/>
          </a:bodyPr>
          <a:lstStyle/>
          <a:p>
            <a:pPr algn="l">
              <a:lnSpc>
                <a:spcPct val="118000"/>
              </a:lnSpc>
              <a:spcBef>
                <a:spcPts val="0"/>
              </a:spcBef>
              <a:spcAft>
                <a:spcPts val="1000"/>
              </a:spcAft>
            </a:pPr>
            <a:r>
              <a:rPr sz="1200" b="0" i="0">
                <a:solidFill>
                  <a:srgbClr val="1A1A1A"/>
                </a:solidFill>
                <a:latin typeface="Arial"/>
              </a:rPr>
              <a:t>L'investisseur francophone moyen est mal servi. L'information de qualité est en anglais : Bloomberg, CNBC, newsletters US supposent de lire l'anglais financier couramment — une barrière réelle pour une large part du public romand, français et belge.</a:t>
            </a:r>
          </a:p>
          <a:p>
            <a:pPr algn="l">
              <a:lnSpc>
                <a:spcPct val="118000"/>
              </a:lnSpc>
              <a:spcBef>
                <a:spcPts val="0"/>
              </a:spcBef>
              <a:spcAft>
                <a:spcPts val="1000"/>
              </a:spcAft>
            </a:pPr>
            <a:r>
              <a:rPr sz="1200" b="0" i="0">
                <a:solidFill>
                  <a:srgbClr val="1A1A1A"/>
                </a:solidFill>
                <a:latin typeface="Arial"/>
              </a:rPr>
              <a:t>L'information en français est soit institutionnelle et aride (rapports bancaires illisibles), soit racoleuse (contenus « devenez riche » sans rigueur ni cadre).</a:t>
            </a:r>
          </a:p>
          <a:p>
            <a:pPr algn="l">
              <a:lnSpc>
                <a:spcPct val="118000"/>
              </a:lnSpc>
              <a:spcBef>
                <a:spcPts val="0"/>
              </a:spcBef>
              <a:spcAft>
                <a:spcPts val="1000"/>
              </a:spcAft>
            </a:pPr>
            <a:r>
              <a:rPr sz="1200" b="0" i="0">
                <a:solidFill>
                  <a:srgbClr val="1A1A1A"/>
                </a:solidFill>
                <a:latin typeface="Arial"/>
              </a:rPr>
              <a:t>Le bruit est permanent — réseaux sociaux, alertes, chaînes d'information continue : trop de signal faible, pas assez de synthèse fiable. Et le temps manque : la cible (cadres, professionnels, indépendants) n'a pas une heure par jour à consacrer à la veille de marché.</a:t>
            </a:r>
          </a:p>
        </p:txBody>
      </p:sp>
      <p:sp>
        <p:nvSpPr>
          <p:cNvPr id="8" name="Rectangle 7"/>
          <p:cNvSpPr/>
          <p:nvPr/>
        </p:nvSpPr>
        <p:spPr>
          <a:xfrm>
            <a:off x="7658831" y="1499616"/>
            <a:ext cx="91440" cy="173736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14863" y="1453896"/>
            <a:ext cx="3709903" cy="2194560"/>
          </a:xfrm>
          <a:prstGeom prst="rect">
            <a:avLst/>
          </a:prstGeom>
          <a:noFill/>
        </p:spPr>
        <p:txBody>
          <a:bodyPr wrap="square" anchor="t" lIns="0" rIns="0" tIns="0" bIns="0">
            <a:spAutoFit/>
          </a:bodyPr>
          <a:lstStyle/>
          <a:p>
            <a:pPr algn="l">
              <a:lnSpc>
                <a:spcPct val="120000"/>
              </a:lnSpc>
              <a:spcBef>
                <a:spcPts val="0"/>
              </a:spcBef>
              <a:spcAft>
                <a:spcPts val="400"/>
              </a:spcAft>
            </a:pPr>
            <a:r>
              <a:rPr sz="1900" b="0" i="1">
                <a:solidFill>
                  <a:srgbClr val="0F2742"/>
                </a:solidFill>
                <a:latin typeface="Playfair Display"/>
              </a:rPr>
              <a:t>Trop de signal faible, pas assez de synthèse fiable.</a:t>
            </a:r>
          </a:p>
        </p:txBody>
      </p:sp>
      <p:cxnSp>
        <p:nvCxnSpPr>
          <p:cNvPr id="10" name="Connector 9"/>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2" name="TextBox 11"/>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La solution : l'essentiel, vérifié, structuré</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LA VISION</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Le tout en français, pédagogique, neutre — pour des décisions éclairées, sans jamais dire quoi faire.</a:t>
            </a:r>
          </a:p>
        </p:txBody>
      </p:sp>
      <p:sp>
        <p:nvSpPr>
          <p:cNvPr id="8" name="Rounded Rectangle 7"/>
          <p:cNvSpPr/>
          <p:nvPr/>
        </p:nvSpPr>
        <p:spPr>
          <a:xfrm>
            <a:off x="566928"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194767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CHAQUE MATIN</a:t>
            </a:r>
          </a:p>
        </p:txBody>
      </p:sp>
      <p:sp>
        <p:nvSpPr>
          <p:cNvPr id="11" name="TextBox 10"/>
          <p:cNvSpPr txBox="1"/>
          <p:nvPr/>
        </p:nvSpPr>
        <p:spPr>
          <a:xfrm>
            <a:off x="1170432"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Briefing Quotidien</a:t>
            </a:r>
          </a:p>
        </p:txBody>
      </p:sp>
      <p:sp>
        <p:nvSpPr>
          <p:cNvPr id="12" name="TextBox 11"/>
          <p:cNvSpPr txBox="1"/>
          <p:nvPr/>
        </p:nvSpPr>
        <p:spPr>
          <a:xfrm>
            <a:off x="768096"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Flash de quelques minutes sur la clôture de la veille : indices, devises, matières premières, crypto, fait marquant et agenda du jour.</a:t>
            </a:r>
          </a:p>
        </p:txBody>
      </p:sp>
      <p:sp>
        <p:nvSpPr>
          <p:cNvPr id="13" name="Rounded Rectangle 12"/>
          <p:cNvSpPr/>
          <p:nvPr/>
        </p:nvSpPr>
        <p:spPr>
          <a:xfrm>
            <a:off x="4374794"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5962" y="194767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8298"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CHAQUE DIMANCHE</a:t>
            </a:r>
          </a:p>
        </p:txBody>
      </p:sp>
      <p:sp>
        <p:nvSpPr>
          <p:cNvPr id="16" name="TextBox 15"/>
          <p:cNvSpPr txBox="1"/>
          <p:nvPr/>
        </p:nvSpPr>
        <p:spPr>
          <a:xfrm>
            <a:off x="4978298"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Brief hebdomadaire</a:t>
            </a:r>
          </a:p>
        </p:txBody>
      </p:sp>
      <p:sp>
        <p:nvSpPr>
          <p:cNvPr id="17" name="TextBox 16"/>
          <p:cNvSpPr txBox="1"/>
          <p:nvPr/>
        </p:nvSpPr>
        <p:spPr>
          <a:xfrm>
            <a:off x="4575962"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Un dossier complet lisible en 15 à 20 minutes : USA, Monde, Suisse, Actions US, en cadre SI / ALORS / SINON.</a:t>
            </a:r>
          </a:p>
        </p:txBody>
      </p:sp>
      <p:sp>
        <p:nvSpPr>
          <p:cNvPr id="18" name="Rounded Rectangle 17"/>
          <p:cNvSpPr/>
          <p:nvPr/>
        </p:nvSpPr>
        <p:spPr>
          <a:xfrm>
            <a:off x="8182660"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83828" y="194767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6164"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CHAQUE MOIS</a:t>
            </a:r>
          </a:p>
        </p:txBody>
      </p:sp>
      <p:sp>
        <p:nvSpPr>
          <p:cNvPr id="21" name="TextBox 20"/>
          <p:cNvSpPr txBox="1"/>
          <p:nvPr/>
        </p:nvSpPr>
        <p:spPr>
          <a:xfrm>
            <a:off x="8786164"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Thème du Mois</a:t>
            </a:r>
          </a:p>
        </p:txBody>
      </p:sp>
      <p:sp>
        <p:nvSpPr>
          <p:cNvPr id="22" name="TextBox 21"/>
          <p:cNvSpPr txBox="1"/>
          <p:nvPr/>
        </p:nvSpPr>
        <p:spPr>
          <a:xfrm>
            <a:off x="8383828"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Une analyse approfondie d'un secteur ou d'une tendance : drivers, acteurs, risques, scénarios, glossaire.</a:t>
            </a:r>
          </a:p>
        </p:txBody>
      </p:sp>
      <p:cxnSp>
        <p:nvCxnSpPr>
          <p:cNvPr id="23" name="Connector 22"/>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5" name="TextBox 24"/>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03120"/>
            <a:ext cx="2743200" cy="2011680"/>
          </a:xfrm>
          <a:prstGeom prst="rect">
            <a:avLst/>
          </a:prstGeom>
          <a:noFill/>
        </p:spPr>
        <p:txBody>
          <a:bodyPr wrap="square" anchor="ctr" lIns="0" rIns="0" tIns="0" bIns="0">
            <a:spAutoFit/>
          </a:bodyPr>
          <a:lstStyle/>
          <a:p>
            <a:pPr algn="l">
              <a:lnSpc>
                <a:spcPct val="100000"/>
              </a:lnSpc>
              <a:spcBef>
                <a:spcPts val="0"/>
              </a:spcBef>
              <a:spcAft>
                <a:spcPts val="400"/>
              </a:spcAft>
            </a:pPr>
            <a:r>
              <a:rPr sz="12000" b="1" i="0">
                <a:solidFill>
                  <a:srgbClr val="1B3A5C"/>
                </a:solidFill>
                <a:latin typeface="Playfair Display"/>
              </a:rPr>
              <a:t>2</a:t>
            </a:r>
          </a:p>
        </p:txBody>
      </p:sp>
      <p:sp>
        <p:nvSpPr>
          <p:cNvPr id="4" name="Rectangle 3"/>
          <p:cNvSpPr/>
          <p:nvPr/>
        </p:nvSpPr>
        <p:spPr>
          <a:xfrm>
            <a:off x="566928" y="3977639"/>
            <a:ext cx="548640" cy="82296"/>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206240"/>
            <a:ext cx="11057839"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7F7F4"/>
                </a:solidFill>
                <a:latin typeface="Playfair Display"/>
              </a:rPr>
              <a:t>L'offre produit</a:t>
            </a:r>
          </a:p>
        </p:txBody>
      </p:sp>
      <p:sp>
        <p:nvSpPr>
          <p:cNvPr id="6" name="TextBox 5"/>
          <p:cNvSpPr txBox="1"/>
          <p:nvPr/>
        </p:nvSpPr>
        <p:spPr>
          <a:xfrm>
            <a:off x="566928" y="5074920"/>
            <a:ext cx="9686239" cy="731520"/>
          </a:xfrm>
          <a:prstGeom prst="rect">
            <a:avLst/>
          </a:prstGeom>
          <a:noFill/>
        </p:spPr>
        <p:txBody>
          <a:bodyPr wrap="square" anchor="t" lIns="0" rIns="0" tIns="0" bIns="0">
            <a:spAutoFit/>
          </a:bodyPr>
          <a:lstStyle/>
          <a:p>
            <a:pPr algn="l">
              <a:lnSpc>
                <a:spcPct val="120000"/>
              </a:lnSpc>
              <a:spcBef>
                <a:spcPts val="0"/>
              </a:spcBef>
              <a:spcAft>
                <a:spcPts val="400"/>
              </a:spcAft>
            </a:pPr>
            <a:r>
              <a:rPr sz="1500" b="0" i="1">
                <a:solidFill>
                  <a:srgbClr val="9DB2C9"/>
                </a:solidFill>
                <a:latin typeface="Arial"/>
              </a:rPr>
              <a:t>Des formats complémentaires : une partie gratuite pour acquérir, une partie premium pour monétiser.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Une offre en entonnoir</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L'OFFRE PRODUIT</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Du gratuit qui acquiert au premium qui retient.</a:t>
            </a:r>
          </a:p>
        </p:txBody>
      </p:sp>
      <p:sp>
        <p:nvSpPr>
          <p:cNvPr id="8" name="Rounded Rectangle 7"/>
          <p:cNvSpPr/>
          <p:nvPr/>
        </p:nvSpPr>
        <p:spPr>
          <a:xfrm>
            <a:off x="566928" y="1956816"/>
            <a:ext cx="2572435"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21408"/>
            <a:ext cx="2243251"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01</a:t>
            </a:r>
          </a:p>
        </p:txBody>
      </p:sp>
      <p:sp>
        <p:nvSpPr>
          <p:cNvPr id="10" name="TextBox 9"/>
          <p:cNvSpPr txBox="1"/>
          <p:nvPr/>
        </p:nvSpPr>
        <p:spPr>
          <a:xfrm>
            <a:off x="731520" y="2670048"/>
            <a:ext cx="2243251"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Contenu social</a:t>
            </a:r>
          </a:p>
        </p:txBody>
      </p:sp>
      <p:sp>
        <p:nvSpPr>
          <p:cNvPr id="11" name="TextBox 10"/>
          <p:cNvSpPr txBox="1"/>
          <p:nvPr/>
        </p:nvSpPr>
        <p:spPr>
          <a:xfrm>
            <a:off x="731520" y="3255264"/>
            <a:ext cx="2243251"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Instagram / Facebook adossés aux briefings, identité visuelle propre. Notoriété et haut de funnel.</a:t>
            </a:r>
          </a:p>
        </p:txBody>
      </p:sp>
      <p:sp>
        <p:nvSpPr>
          <p:cNvPr id="12" name="TextBox 11"/>
          <p:cNvSpPr txBox="1"/>
          <p:nvPr/>
        </p:nvSpPr>
        <p:spPr>
          <a:xfrm>
            <a:off x="3121075"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13" name="Rounded Rectangle 12"/>
          <p:cNvSpPr/>
          <p:nvPr/>
        </p:nvSpPr>
        <p:spPr>
          <a:xfrm>
            <a:off x="3395395" y="1956816"/>
            <a:ext cx="2572435"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9987" y="2121408"/>
            <a:ext cx="2243251"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02</a:t>
            </a:r>
          </a:p>
        </p:txBody>
      </p:sp>
      <p:sp>
        <p:nvSpPr>
          <p:cNvPr id="15" name="TextBox 14"/>
          <p:cNvSpPr txBox="1"/>
          <p:nvPr/>
        </p:nvSpPr>
        <p:spPr>
          <a:xfrm>
            <a:off x="3559987" y="2670048"/>
            <a:ext cx="2243251"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Briefing Quotidien</a:t>
            </a:r>
          </a:p>
        </p:txBody>
      </p:sp>
      <p:sp>
        <p:nvSpPr>
          <p:cNvPr id="16" name="TextBox 15"/>
          <p:cNvSpPr txBox="1"/>
          <p:nvPr/>
        </p:nvSpPr>
        <p:spPr>
          <a:xfrm>
            <a:off x="3559987" y="3255264"/>
            <a:ext cx="2243251"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Le produit d'appel gratuit : visible, régulier, il installe l'habitude et fait connaître la marque.</a:t>
            </a:r>
          </a:p>
        </p:txBody>
      </p:sp>
      <p:sp>
        <p:nvSpPr>
          <p:cNvPr id="17" name="TextBox 16"/>
          <p:cNvSpPr txBox="1"/>
          <p:nvPr/>
        </p:nvSpPr>
        <p:spPr>
          <a:xfrm>
            <a:off x="5949543"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18" name="Rounded Rectangle 17"/>
          <p:cNvSpPr/>
          <p:nvPr/>
        </p:nvSpPr>
        <p:spPr>
          <a:xfrm>
            <a:off x="6223863" y="1956816"/>
            <a:ext cx="2572435"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455" y="2121408"/>
            <a:ext cx="2243251"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03</a:t>
            </a:r>
          </a:p>
        </p:txBody>
      </p:sp>
      <p:sp>
        <p:nvSpPr>
          <p:cNvPr id="20" name="TextBox 19"/>
          <p:cNvSpPr txBox="1"/>
          <p:nvPr/>
        </p:nvSpPr>
        <p:spPr>
          <a:xfrm>
            <a:off x="6388455" y="2670048"/>
            <a:ext cx="2243251"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Brief hebdomadaire</a:t>
            </a:r>
          </a:p>
        </p:txBody>
      </p:sp>
      <p:sp>
        <p:nvSpPr>
          <p:cNvPr id="21" name="TextBox 20"/>
          <p:cNvSpPr txBox="1"/>
          <p:nvPr/>
        </p:nvSpPr>
        <p:spPr>
          <a:xfrm>
            <a:off x="6388455" y="3255264"/>
            <a:ext cx="2243251"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Le cœur de l'offre payante : modules USA, Monde, Suisse, Actions US, chaque dimanche à 09h00.</a:t>
            </a:r>
          </a:p>
        </p:txBody>
      </p:sp>
      <p:sp>
        <p:nvSpPr>
          <p:cNvPr id="22" name="TextBox 21"/>
          <p:cNvSpPr txBox="1"/>
          <p:nvPr/>
        </p:nvSpPr>
        <p:spPr>
          <a:xfrm>
            <a:off x="8778011"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23" name="Rounded Rectangle 22"/>
          <p:cNvSpPr/>
          <p:nvPr/>
        </p:nvSpPr>
        <p:spPr>
          <a:xfrm>
            <a:off x="9052331" y="1956816"/>
            <a:ext cx="2572435"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16923" y="2121408"/>
            <a:ext cx="2243251"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04</a:t>
            </a:r>
          </a:p>
        </p:txBody>
      </p:sp>
      <p:sp>
        <p:nvSpPr>
          <p:cNvPr id="25" name="TextBox 24"/>
          <p:cNvSpPr txBox="1"/>
          <p:nvPr/>
        </p:nvSpPr>
        <p:spPr>
          <a:xfrm>
            <a:off x="9216923" y="2670048"/>
            <a:ext cx="2243251"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Thème du Mois</a:t>
            </a:r>
          </a:p>
        </p:txBody>
      </p:sp>
      <p:sp>
        <p:nvSpPr>
          <p:cNvPr id="26" name="TextBox 25"/>
          <p:cNvSpPr txBox="1"/>
          <p:nvPr/>
        </p:nvSpPr>
        <p:spPr>
          <a:xfrm>
            <a:off x="9216923" y="3255264"/>
            <a:ext cx="2243251"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La montée en valeur : lecture longue qui renforce la valeur perçue de l'abonnement.</a:t>
            </a:r>
          </a:p>
        </p:txBody>
      </p:sp>
      <p:cxnSp>
        <p:nvCxnSpPr>
          <p:cNvPr id="27" name="Connector 26"/>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9" name="TextBox 28"/>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 brief hebdomadaire : quatre modules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L'OFFRE PRODUIT</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Un dossier complet, modulaire, lisible en 15 à 20 minutes.</a:t>
            </a:r>
          </a:p>
        </p:txBody>
      </p:sp>
      <p:sp>
        <p:nvSpPr>
          <p:cNvPr id="8" name="Rounded Rectangle 7"/>
          <p:cNvSpPr/>
          <p:nvPr/>
        </p:nvSpPr>
        <p:spPr>
          <a:xfrm>
            <a:off x="566928" y="1728216"/>
            <a:ext cx="2490139"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194767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929384"/>
            <a:ext cx="1685467"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MODULE USA</a:t>
            </a:r>
          </a:p>
        </p:txBody>
      </p:sp>
      <p:sp>
        <p:nvSpPr>
          <p:cNvPr id="11" name="TextBox 10"/>
          <p:cNvSpPr txBox="1"/>
          <p:nvPr/>
        </p:nvSpPr>
        <p:spPr>
          <a:xfrm>
            <a:off x="1170432" y="2167128"/>
            <a:ext cx="1685467"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La référence US</a:t>
            </a:r>
          </a:p>
        </p:txBody>
      </p:sp>
      <p:sp>
        <p:nvSpPr>
          <p:cNvPr id="12" name="TextBox 11"/>
          <p:cNvSpPr txBox="1"/>
          <p:nvPr/>
        </p:nvSpPr>
        <p:spPr>
          <a:xfrm>
            <a:off x="768096" y="2587752"/>
            <a:ext cx="2087803"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Indices, VIX, taux, crédit, Fed, secteurs, Mag 7, earnings, scénarios et risques.</a:t>
            </a:r>
          </a:p>
        </p:txBody>
      </p:sp>
      <p:sp>
        <p:nvSpPr>
          <p:cNvPr id="13" name="Rounded Rectangle 12"/>
          <p:cNvSpPr/>
          <p:nvPr/>
        </p:nvSpPr>
        <p:spPr>
          <a:xfrm>
            <a:off x="3422827" y="1728216"/>
            <a:ext cx="2490139"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23995" y="194767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6331" y="1929384"/>
            <a:ext cx="1685467"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MODULE MONDE</a:t>
            </a:r>
          </a:p>
        </p:txBody>
      </p:sp>
      <p:sp>
        <p:nvSpPr>
          <p:cNvPr id="16" name="TextBox 15"/>
          <p:cNvSpPr txBox="1"/>
          <p:nvPr/>
        </p:nvSpPr>
        <p:spPr>
          <a:xfrm>
            <a:off x="4026331" y="2167128"/>
            <a:ext cx="1685467"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Couverture internationale</a:t>
            </a:r>
          </a:p>
        </p:txBody>
      </p:sp>
      <p:sp>
        <p:nvSpPr>
          <p:cNvPr id="17" name="TextBox 16"/>
          <p:cNvSpPr txBox="1"/>
          <p:nvPr/>
        </p:nvSpPr>
        <p:spPr>
          <a:xfrm>
            <a:off x="3623995" y="2587752"/>
            <a:ext cx="2087803"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Europe, Asie, émergents, géopolitique — la lecture globale des marchés.</a:t>
            </a:r>
          </a:p>
        </p:txBody>
      </p:sp>
      <p:sp>
        <p:nvSpPr>
          <p:cNvPr id="18" name="Rounded Rectangle 17"/>
          <p:cNvSpPr/>
          <p:nvPr/>
        </p:nvSpPr>
        <p:spPr>
          <a:xfrm>
            <a:off x="6278727" y="1728216"/>
            <a:ext cx="2490139"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79895" y="194767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82231" y="1929384"/>
            <a:ext cx="1685467"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MODULE SUISSE</a:t>
            </a:r>
          </a:p>
        </p:txBody>
      </p:sp>
      <p:sp>
        <p:nvSpPr>
          <p:cNvPr id="21" name="TextBox 20"/>
          <p:cNvSpPr txBox="1"/>
          <p:nvPr/>
        </p:nvSpPr>
        <p:spPr>
          <a:xfrm>
            <a:off x="6882231" y="2167128"/>
            <a:ext cx="1685467"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Spécificité helvétique</a:t>
            </a:r>
          </a:p>
        </p:txBody>
      </p:sp>
      <p:sp>
        <p:nvSpPr>
          <p:cNvPr id="22" name="TextBox 21"/>
          <p:cNvSpPr txBox="1"/>
          <p:nvPr/>
        </p:nvSpPr>
        <p:spPr>
          <a:xfrm>
            <a:off x="6479895" y="2587752"/>
            <a:ext cx="2087803"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SMI, BNS, franc suisse, valeurs helvétiques, immobilier.</a:t>
            </a:r>
          </a:p>
        </p:txBody>
      </p:sp>
      <p:sp>
        <p:nvSpPr>
          <p:cNvPr id="23" name="Rounded Rectangle 22"/>
          <p:cNvSpPr/>
          <p:nvPr/>
        </p:nvSpPr>
        <p:spPr>
          <a:xfrm>
            <a:off x="9134627" y="1728216"/>
            <a:ext cx="2490139"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35795" y="1947672"/>
            <a:ext cx="274320" cy="274320"/>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38131" y="1929384"/>
            <a:ext cx="1685467"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ACTIONS US</a:t>
            </a:r>
          </a:p>
        </p:txBody>
      </p:sp>
      <p:sp>
        <p:nvSpPr>
          <p:cNvPr id="26" name="TextBox 25"/>
          <p:cNvSpPr txBox="1"/>
          <p:nvPr/>
        </p:nvSpPr>
        <p:spPr>
          <a:xfrm>
            <a:off x="9738131" y="2167128"/>
            <a:ext cx="1685467"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Focus titres</a:t>
            </a:r>
          </a:p>
        </p:txBody>
      </p:sp>
      <p:sp>
        <p:nvSpPr>
          <p:cNvPr id="27" name="TextBox 26"/>
          <p:cNvSpPr txBox="1"/>
          <p:nvPr/>
        </p:nvSpPr>
        <p:spPr>
          <a:xfrm>
            <a:off x="9335795" y="2587752"/>
            <a:ext cx="2087803"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Une sélection de valeurs en cadre conditionnel SI / ALORS / SINON, sans recommandation.</a:t>
            </a:r>
          </a:p>
        </p:txBody>
      </p:sp>
      <p:cxnSp>
        <p:nvCxnSpPr>
          <p:cNvPr id="28" name="Connector 27"/>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30" name="TextBox 29"/>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Scoreboard des marchés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L'OFFRE PRODUIT — SIGNATURE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Clôture de la veille — données illustratives, vérifiées sur deux sources</a:t>
            </a:r>
          </a:p>
        </p:txBody>
      </p:sp>
      <p:sp>
        <p:nvSpPr>
          <p:cNvPr id="8" name="Rounded Rectangle 7"/>
          <p:cNvSpPr/>
          <p:nvPr/>
        </p:nvSpPr>
        <p:spPr>
          <a:xfrm>
            <a:off x="566928" y="1728216"/>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56232"/>
            <a:ext cx="64008" cy="1024127"/>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56232"/>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S&amp;P 500</a:t>
            </a:r>
          </a:p>
        </p:txBody>
      </p:sp>
      <p:sp>
        <p:nvSpPr>
          <p:cNvPr id="11" name="TextBox 10"/>
          <p:cNvSpPr txBox="1"/>
          <p:nvPr/>
        </p:nvSpPr>
        <p:spPr>
          <a:xfrm>
            <a:off x="768096" y="2130552"/>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5 633,09</a:t>
            </a:r>
          </a:p>
        </p:txBody>
      </p:sp>
      <p:sp>
        <p:nvSpPr>
          <p:cNvPr id="12" name="TextBox 11"/>
          <p:cNvSpPr txBox="1"/>
          <p:nvPr/>
        </p:nvSpPr>
        <p:spPr>
          <a:xfrm>
            <a:off x="768096" y="2642616"/>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+1,08 %</a:t>
            </a:r>
          </a:p>
        </p:txBody>
      </p:sp>
      <p:sp>
        <p:nvSpPr>
          <p:cNvPr id="13" name="Rounded Rectangle 12"/>
          <p:cNvSpPr/>
          <p:nvPr/>
        </p:nvSpPr>
        <p:spPr>
          <a:xfrm>
            <a:off x="3395395" y="1728216"/>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5395" y="1856232"/>
            <a:ext cx="64008" cy="1024127"/>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6563" y="1856232"/>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Nasdaq</a:t>
            </a:r>
          </a:p>
        </p:txBody>
      </p:sp>
      <p:sp>
        <p:nvSpPr>
          <p:cNvPr id="16" name="TextBox 15"/>
          <p:cNvSpPr txBox="1"/>
          <p:nvPr/>
        </p:nvSpPr>
        <p:spPr>
          <a:xfrm>
            <a:off x="3596563" y="2130552"/>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18 461,33</a:t>
            </a:r>
          </a:p>
        </p:txBody>
      </p:sp>
      <p:sp>
        <p:nvSpPr>
          <p:cNvPr id="17" name="TextBox 16"/>
          <p:cNvSpPr txBox="1"/>
          <p:nvPr/>
        </p:nvSpPr>
        <p:spPr>
          <a:xfrm>
            <a:off x="3596563" y="2642616"/>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+1,24 %</a:t>
            </a:r>
          </a:p>
        </p:txBody>
      </p:sp>
      <p:sp>
        <p:nvSpPr>
          <p:cNvPr id="18" name="Rounded Rectangle 17"/>
          <p:cNvSpPr/>
          <p:nvPr/>
        </p:nvSpPr>
        <p:spPr>
          <a:xfrm>
            <a:off x="6223863" y="1728216"/>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3863" y="1856232"/>
            <a:ext cx="64008" cy="1024127"/>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5031" y="1856232"/>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Dow Jones</a:t>
            </a:r>
          </a:p>
        </p:txBody>
      </p:sp>
      <p:sp>
        <p:nvSpPr>
          <p:cNvPr id="21" name="TextBox 20"/>
          <p:cNvSpPr txBox="1"/>
          <p:nvPr/>
        </p:nvSpPr>
        <p:spPr>
          <a:xfrm>
            <a:off x="6425031" y="2130552"/>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41 209,75</a:t>
            </a:r>
          </a:p>
        </p:txBody>
      </p:sp>
      <p:sp>
        <p:nvSpPr>
          <p:cNvPr id="22" name="TextBox 21"/>
          <p:cNvSpPr txBox="1"/>
          <p:nvPr/>
        </p:nvSpPr>
        <p:spPr>
          <a:xfrm>
            <a:off x="6425031" y="2642616"/>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+0,62 %</a:t>
            </a:r>
          </a:p>
        </p:txBody>
      </p:sp>
      <p:sp>
        <p:nvSpPr>
          <p:cNvPr id="23" name="Rounded Rectangle 22"/>
          <p:cNvSpPr/>
          <p:nvPr/>
        </p:nvSpPr>
        <p:spPr>
          <a:xfrm>
            <a:off x="9052331" y="1728216"/>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2331" y="1856232"/>
            <a:ext cx="64008" cy="1024127"/>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53499" y="1856232"/>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VIX</a:t>
            </a:r>
          </a:p>
        </p:txBody>
      </p:sp>
      <p:sp>
        <p:nvSpPr>
          <p:cNvPr id="26" name="TextBox 25"/>
          <p:cNvSpPr txBox="1"/>
          <p:nvPr/>
        </p:nvSpPr>
        <p:spPr>
          <a:xfrm>
            <a:off x="9253499" y="2130552"/>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16,84</a:t>
            </a:r>
          </a:p>
        </p:txBody>
      </p:sp>
      <p:sp>
        <p:nvSpPr>
          <p:cNvPr id="27" name="TextBox 26"/>
          <p:cNvSpPr txBox="1"/>
          <p:nvPr/>
        </p:nvSpPr>
        <p:spPr>
          <a:xfrm>
            <a:off x="9253499" y="2642616"/>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-4,30 %</a:t>
            </a:r>
          </a:p>
        </p:txBody>
      </p:sp>
      <p:sp>
        <p:nvSpPr>
          <p:cNvPr id="28" name="Rounded Rectangle 27"/>
          <p:cNvSpPr/>
          <p:nvPr/>
        </p:nvSpPr>
        <p:spPr>
          <a:xfrm>
            <a:off x="566928" y="3264408"/>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3392424"/>
            <a:ext cx="64008" cy="1024127"/>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3392424"/>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CAC 40</a:t>
            </a:r>
          </a:p>
        </p:txBody>
      </p:sp>
      <p:sp>
        <p:nvSpPr>
          <p:cNvPr id="31" name="TextBox 30"/>
          <p:cNvSpPr txBox="1"/>
          <p:nvPr/>
        </p:nvSpPr>
        <p:spPr>
          <a:xfrm>
            <a:off x="768096" y="3666744"/>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7 554,29</a:t>
            </a:r>
          </a:p>
        </p:txBody>
      </p:sp>
      <p:sp>
        <p:nvSpPr>
          <p:cNvPr id="32" name="TextBox 31"/>
          <p:cNvSpPr txBox="1"/>
          <p:nvPr/>
        </p:nvSpPr>
        <p:spPr>
          <a:xfrm>
            <a:off x="768096" y="4178807"/>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-0,38 %</a:t>
            </a:r>
          </a:p>
        </p:txBody>
      </p:sp>
      <p:sp>
        <p:nvSpPr>
          <p:cNvPr id="33" name="Rounded Rectangle 32"/>
          <p:cNvSpPr/>
          <p:nvPr/>
        </p:nvSpPr>
        <p:spPr>
          <a:xfrm>
            <a:off x="3395395" y="3264408"/>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95395" y="3392424"/>
            <a:ext cx="64008" cy="1024127"/>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96563" y="3392424"/>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DAX</a:t>
            </a:r>
          </a:p>
        </p:txBody>
      </p:sp>
      <p:sp>
        <p:nvSpPr>
          <p:cNvPr id="36" name="TextBox 35"/>
          <p:cNvSpPr txBox="1"/>
          <p:nvPr/>
        </p:nvSpPr>
        <p:spPr>
          <a:xfrm>
            <a:off x="3596563" y="3666744"/>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18 720,10</a:t>
            </a:r>
          </a:p>
        </p:txBody>
      </p:sp>
      <p:sp>
        <p:nvSpPr>
          <p:cNvPr id="37" name="TextBox 36"/>
          <p:cNvSpPr txBox="1"/>
          <p:nvPr/>
        </p:nvSpPr>
        <p:spPr>
          <a:xfrm>
            <a:off x="3596563" y="4178807"/>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+0,21 %</a:t>
            </a:r>
          </a:p>
        </p:txBody>
      </p:sp>
      <p:sp>
        <p:nvSpPr>
          <p:cNvPr id="38" name="Rounded Rectangle 37"/>
          <p:cNvSpPr/>
          <p:nvPr/>
        </p:nvSpPr>
        <p:spPr>
          <a:xfrm>
            <a:off x="6223863" y="3264408"/>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3863" y="3392424"/>
            <a:ext cx="64008" cy="1024127"/>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25031" y="3392424"/>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SMI</a:t>
            </a:r>
          </a:p>
        </p:txBody>
      </p:sp>
      <p:sp>
        <p:nvSpPr>
          <p:cNvPr id="41" name="TextBox 40"/>
          <p:cNvSpPr txBox="1"/>
          <p:nvPr/>
        </p:nvSpPr>
        <p:spPr>
          <a:xfrm>
            <a:off x="6425031" y="3666744"/>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12 048,55</a:t>
            </a:r>
          </a:p>
        </p:txBody>
      </p:sp>
      <p:sp>
        <p:nvSpPr>
          <p:cNvPr id="42" name="TextBox 41"/>
          <p:cNvSpPr txBox="1"/>
          <p:nvPr/>
        </p:nvSpPr>
        <p:spPr>
          <a:xfrm>
            <a:off x="6425031" y="4178807"/>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+0,44 %</a:t>
            </a:r>
          </a:p>
        </p:txBody>
      </p:sp>
      <p:sp>
        <p:nvSpPr>
          <p:cNvPr id="43" name="Rounded Rectangle 42"/>
          <p:cNvSpPr/>
          <p:nvPr/>
        </p:nvSpPr>
        <p:spPr>
          <a:xfrm>
            <a:off x="9052331" y="3264408"/>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052331" y="3392424"/>
            <a:ext cx="64008" cy="1024127"/>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53499" y="3392424"/>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EUR/USD</a:t>
            </a:r>
          </a:p>
        </p:txBody>
      </p:sp>
      <p:sp>
        <p:nvSpPr>
          <p:cNvPr id="46" name="TextBox 45"/>
          <p:cNvSpPr txBox="1"/>
          <p:nvPr/>
        </p:nvSpPr>
        <p:spPr>
          <a:xfrm>
            <a:off x="9253499" y="3666744"/>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1,0876</a:t>
            </a:r>
          </a:p>
        </p:txBody>
      </p:sp>
      <p:sp>
        <p:nvSpPr>
          <p:cNvPr id="47" name="TextBox 46"/>
          <p:cNvSpPr txBox="1"/>
          <p:nvPr/>
        </p:nvSpPr>
        <p:spPr>
          <a:xfrm>
            <a:off x="9253499" y="4178807"/>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+0,15 %</a:t>
            </a:r>
          </a:p>
        </p:txBody>
      </p:sp>
      <p:sp>
        <p:nvSpPr>
          <p:cNvPr id="48" name="Rounded Rectangle 47"/>
          <p:cNvSpPr/>
          <p:nvPr/>
        </p:nvSpPr>
        <p:spPr>
          <a:xfrm>
            <a:off x="566928" y="4800600"/>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66928" y="4928616"/>
            <a:ext cx="64008" cy="1024127"/>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4928616"/>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USD/CHF</a:t>
            </a:r>
          </a:p>
        </p:txBody>
      </p:sp>
      <p:sp>
        <p:nvSpPr>
          <p:cNvPr id="51" name="TextBox 50"/>
          <p:cNvSpPr txBox="1"/>
          <p:nvPr/>
        </p:nvSpPr>
        <p:spPr>
          <a:xfrm>
            <a:off x="768096" y="5202936"/>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0,8521</a:t>
            </a:r>
          </a:p>
        </p:txBody>
      </p:sp>
      <p:sp>
        <p:nvSpPr>
          <p:cNvPr id="52" name="TextBox 51"/>
          <p:cNvSpPr txBox="1"/>
          <p:nvPr/>
        </p:nvSpPr>
        <p:spPr>
          <a:xfrm>
            <a:off x="768096" y="5714999"/>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-0,22 %</a:t>
            </a:r>
          </a:p>
        </p:txBody>
      </p:sp>
      <p:sp>
        <p:nvSpPr>
          <p:cNvPr id="53" name="Rounded Rectangle 52"/>
          <p:cNvSpPr/>
          <p:nvPr/>
        </p:nvSpPr>
        <p:spPr>
          <a:xfrm>
            <a:off x="3395395" y="4800600"/>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395395" y="4928616"/>
            <a:ext cx="64008" cy="1024127"/>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596563" y="4928616"/>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Or (oz)</a:t>
            </a:r>
          </a:p>
        </p:txBody>
      </p:sp>
      <p:sp>
        <p:nvSpPr>
          <p:cNvPr id="56" name="TextBox 55"/>
          <p:cNvSpPr txBox="1"/>
          <p:nvPr/>
        </p:nvSpPr>
        <p:spPr>
          <a:xfrm>
            <a:off x="3596563" y="5202936"/>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2 412,30</a:t>
            </a:r>
          </a:p>
        </p:txBody>
      </p:sp>
      <p:sp>
        <p:nvSpPr>
          <p:cNvPr id="57" name="TextBox 56"/>
          <p:cNvSpPr txBox="1"/>
          <p:nvPr/>
        </p:nvSpPr>
        <p:spPr>
          <a:xfrm>
            <a:off x="3596563" y="5714999"/>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+0,73 %</a:t>
            </a:r>
          </a:p>
        </p:txBody>
      </p:sp>
      <p:sp>
        <p:nvSpPr>
          <p:cNvPr id="58" name="Rounded Rectangle 57"/>
          <p:cNvSpPr/>
          <p:nvPr/>
        </p:nvSpPr>
        <p:spPr>
          <a:xfrm>
            <a:off x="6223863" y="4800600"/>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23863" y="4928616"/>
            <a:ext cx="64008" cy="1024127"/>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25031" y="4928616"/>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WTI</a:t>
            </a:r>
          </a:p>
        </p:txBody>
      </p:sp>
      <p:sp>
        <p:nvSpPr>
          <p:cNvPr id="61" name="TextBox 60"/>
          <p:cNvSpPr txBox="1"/>
          <p:nvPr/>
        </p:nvSpPr>
        <p:spPr>
          <a:xfrm>
            <a:off x="6425031" y="5202936"/>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78,42</a:t>
            </a:r>
          </a:p>
        </p:txBody>
      </p:sp>
      <p:sp>
        <p:nvSpPr>
          <p:cNvPr id="62" name="TextBox 61"/>
          <p:cNvSpPr txBox="1"/>
          <p:nvPr/>
        </p:nvSpPr>
        <p:spPr>
          <a:xfrm>
            <a:off x="6425031" y="5714999"/>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-1,15 %</a:t>
            </a:r>
          </a:p>
        </p:txBody>
      </p:sp>
      <p:sp>
        <p:nvSpPr>
          <p:cNvPr id="63" name="Rounded Rectangle 62"/>
          <p:cNvSpPr/>
          <p:nvPr/>
        </p:nvSpPr>
        <p:spPr>
          <a:xfrm>
            <a:off x="9052331" y="4800600"/>
            <a:ext cx="2572435" cy="1280159"/>
          </a:xfrm>
          <a:prstGeom prst="roundRect">
            <a:avLst>
              <a:gd name="adj" fmla="val 6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052331" y="4928616"/>
            <a:ext cx="64008" cy="1024127"/>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253499" y="4928616"/>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5B7A9D"/>
                </a:solidFill>
                <a:latin typeface="Arial"/>
              </a:rPr>
              <a:t>Bitcoin</a:t>
            </a:r>
          </a:p>
        </p:txBody>
      </p:sp>
      <p:sp>
        <p:nvSpPr>
          <p:cNvPr id="66" name="TextBox 65"/>
          <p:cNvSpPr txBox="1"/>
          <p:nvPr/>
        </p:nvSpPr>
        <p:spPr>
          <a:xfrm>
            <a:off x="9253499" y="5202936"/>
            <a:ext cx="2206675" cy="384048"/>
          </a:xfrm>
          <a:prstGeom prst="rect">
            <a:avLst/>
          </a:prstGeom>
          <a:noFill/>
        </p:spPr>
        <p:txBody>
          <a:bodyPr wrap="square" anchor="t" lIns="0" rIns="0" tIns="0" bIns="0">
            <a:spAutoFit/>
          </a:bodyPr>
          <a:lstStyle/>
          <a:p>
            <a:pPr algn="l">
              <a:lnSpc>
                <a:spcPct val="100000"/>
              </a:lnSpc>
              <a:spcBef>
                <a:spcPts val="0"/>
              </a:spcBef>
              <a:spcAft>
                <a:spcPts val="400"/>
              </a:spcAft>
            </a:pPr>
            <a:r>
              <a:rPr sz="2100" b="1" i="0">
                <a:solidFill>
                  <a:srgbClr val="0F2742"/>
                </a:solidFill>
                <a:latin typeface="Playfair Display"/>
              </a:rPr>
              <a:t>63 180</a:t>
            </a:r>
          </a:p>
        </p:txBody>
      </p:sp>
      <p:sp>
        <p:nvSpPr>
          <p:cNvPr id="67" name="TextBox 66"/>
          <p:cNvSpPr txBox="1"/>
          <p:nvPr/>
        </p:nvSpPr>
        <p:spPr>
          <a:xfrm>
            <a:off x="9253499" y="5714999"/>
            <a:ext cx="2206675"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+2,41 %</a:t>
            </a:r>
          </a:p>
        </p:txBody>
      </p:sp>
      <p:cxnSp>
        <p:nvCxnSpPr>
          <p:cNvPr id="68" name="Connector 67"/>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70" name="TextBox 69"/>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09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1554480"/>
            <a:ext cx="2194560" cy="502920"/>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219456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700" b="1" i="0">
                <a:solidFill>
                  <a:srgbClr val="FFFFFF"/>
                </a:solidFill>
                <a:latin typeface="Arial"/>
              </a:rPr>
              <a:t>BREAKING</a:t>
            </a:r>
          </a:p>
        </p:txBody>
      </p:sp>
      <p:sp>
        <p:nvSpPr>
          <p:cNvPr id="5" name="TextBox 4"/>
          <p:cNvSpPr txBox="1"/>
          <p:nvPr/>
        </p:nvSpPr>
        <p:spPr>
          <a:xfrm>
            <a:off x="566928" y="2377440"/>
            <a:ext cx="10143439" cy="1828800"/>
          </a:xfrm>
          <a:prstGeom prst="rect">
            <a:avLst/>
          </a:prstGeom>
          <a:noFill/>
        </p:spPr>
        <p:txBody>
          <a:bodyPr wrap="square" anchor="t" lIns="0" rIns="0" tIns="0" bIns="0">
            <a:spAutoFit/>
          </a:bodyPr>
          <a:lstStyle/>
          <a:p>
            <a:pPr algn="l">
              <a:lnSpc>
                <a:spcPct val="102000"/>
              </a:lnSpc>
              <a:spcBef>
                <a:spcPts val="0"/>
              </a:spcBef>
              <a:spcAft>
                <a:spcPts val="400"/>
              </a:spcAft>
            </a:pPr>
            <a:r>
              <a:rPr sz="3800" b="1" i="0">
                <a:solidFill>
                  <a:srgbClr val="F7F7F4"/>
                </a:solidFill>
                <a:latin typeface="Playfair Display"/>
              </a:rPr>
              <a:t>La Fed maintient ses taux et ouvre la porte à une baisse en septembre</a:t>
            </a:r>
          </a:p>
        </p:txBody>
      </p:sp>
      <p:sp>
        <p:nvSpPr>
          <p:cNvPr id="6" name="Rectangle 5"/>
          <p:cNvSpPr/>
          <p:nvPr/>
        </p:nvSpPr>
        <p:spPr>
          <a:xfrm>
            <a:off x="566928" y="4434840"/>
            <a:ext cx="91440" cy="914400"/>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434840"/>
            <a:ext cx="10143439" cy="1005840"/>
          </a:xfrm>
          <a:prstGeom prst="rect">
            <a:avLst/>
          </a:prstGeom>
          <a:noFill/>
        </p:spPr>
        <p:txBody>
          <a:bodyPr wrap="square" anchor="t" lIns="0" rIns="0" tIns="0" bIns="0">
            <a:spAutoFit/>
          </a:bodyPr>
          <a:lstStyle/>
          <a:p>
            <a:pPr algn="l">
              <a:lnSpc>
                <a:spcPct val="120000"/>
              </a:lnSpc>
              <a:spcBef>
                <a:spcPts val="0"/>
              </a:spcBef>
              <a:spcAft>
                <a:spcPts val="400"/>
              </a:spcAft>
            </a:pPr>
            <a:r>
              <a:rPr sz="1500" b="0" i="1">
                <a:solidFill>
                  <a:srgbClr val="C7D2DE"/>
                </a:solidFill>
                <a:latin typeface="Arial"/>
              </a:rPr>
              <a:t>Réservé aux mouvements majeurs : décisions Fed / BCE / BNS, variations d'indices supérieures à 3 %, surprises de résultats des Mag 7. Format éditorial à observer, sans interprétation directionnelle.</a:t>
            </a:r>
          </a:p>
        </p:txBody>
      </p:sp>
      <p:cxnSp>
        <p:nvCxnSpPr>
          <p:cNvPr id="8" name="Connector 7"/>
          <p:cNvCxnSpPr/>
          <p:nvPr/>
        </p:nvCxnSpPr>
        <p:spPr>
          <a:xfrm>
            <a:off x="566928" y="6437376"/>
            <a:ext cx="11057839" cy="0"/>
          </a:xfrm>
          <a:prstGeom prst="bentConnector3">
            <a:avLst/>
          </a:prstGeom>
          <a:ln w="6350">
            <a:solidFill>
              <a:srgbClr val="1E3A5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8FA6BE"/>
                </a:solidFill>
                <a:latin typeface="Arial"/>
              </a:rPr>
              <a:t>WallStreet Market Brief</a:t>
            </a:r>
          </a:p>
        </p:txBody>
      </p:sp>
      <p:sp>
        <p:nvSpPr>
          <p:cNvPr id="10" name="TextBox 9"/>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8FA6BE"/>
                </a:solidFill>
                <a:latin typeface="Arial"/>
              </a:rP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03120"/>
            <a:ext cx="2743200" cy="2011680"/>
          </a:xfrm>
          <a:prstGeom prst="rect">
            <a:avLst/>
          </a:prstGeom>
          <a:noFill/>
        </p:spPr>
        <p:txBody>
          <a:bodyPr wrap="square" anchor="ctr" lIns="0" rIns="0" tIns="0" bIns="0">
            <a:spAutoFit/>
          </a:bodyPr>
          <a:lstStyle/>
          <a:p>
            <a:pPr algn="l">
              <a:lnSpc>
                <a:spcPct val="100000"/>
              </a:lnSpc>
              <a:spcBef>
                <a:spcPts val="0"/>
              </a:spcBef>
              <a:spcAft>
                <a:spcPts val="400"/>
              </a:spcAft>
            </a:pPr>
            <a:r>
              <a:rPr sz="12000" b="1" i="0">
                <a:solidFill>
                  <a:srgbClr val="1B3A5C"/>
                </a:solidFill>
                <a:latin typeface="Playfair Display"/>
              </a:rPr>
              <a:t>3</a:t>
            </a:r>
          </a:p>
        </p:txBody>
      </p:sp>
      <p:sp>
        <p:nvSpPr>
          <p:cNvPr id="4" name="Rectangle 3"/>
          <p:cNvSpPr/>
          <p:nvPr/>
        </p:nvSpPr>
        <p:spPr>
          <a:xfrm>
            <a:off x="566928" y="3977639"/>
            <a:ext cx="548640" cy="82296"/>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206240"/>
            <a:ext cx="11057839"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7F7F4"/>
                </a:solidFill>
                <a:latin typeface="Playfair Display"/>
              </a:rPr>
              <a:t>Marché &amp; opportunité</a:t>
            </a:r>
          </a:p>
        </p:txBody>
      </p:sp>
      <p:sp>
        <p:nvSpPr>
          <p:cNvPr id="6" name="TextBox 5"/>
          <p:cNvSpPr txBox="1"/>
          <p:nvPr/>
        </p:nvSpPr>
        <p:spPr>
          <a:xfrm>
            <a:off x="566928" y="5074920"/>
            <a:ext cx="9686239" cy="731520"/>
          </a:xfrm>
          <a:prstGeom prst="rect">
            <a:avLst/>
          </a:prstGeom>
          <a:noFill/>
        </p:spPr>
        <p:txBody>
          <a:bodyPr wrap="square" anchor="t" lIns="0" rIns="0" tIns="0" bIns="0">
            <a:spAutoFit/>
          </a:bodyPr>
          <a:lstStyle/>
          <a:p>
            <a:pPr algn="l">
              <a:lnSpc>
                <a:spcPct val="120000"/>
              </a:lnSpc>
              <a:spcBef>
                <a:spcPts val="0"/>
              </a:spcBef>
              <a:spcAft>
                <a:spcPts val="400"/>
              </a:spcAft>
            </a:pPr>
            <a:r>
              <a:rPr sz="1500" b="0" i="1">
                <a:solidFill>
                  <a:srgbClr val="9DB2C9"/>
                </a:solidFill>
                <a:latin typeface="Arial"/>
              </a:rPr>
              <a:t>Un marché francophone premium peu servi, là où l'anglo-saxon est saturé.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Dimensionnement du marché</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MARCHÉ &amp; OPPORTUNITÉ</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Approche TAM / SAM / SOM — dimensionnement stratégique, pas une promesse de résultat.</a:t>
            </a:r>
          </a:p>
        </p:txBody>
      </p:sp>
      <p:sp>
        <p:nvSpPr>
          <p:cNvPr id="8" name="TextBox 7"/>
          <p:cNvSpPr txBox="1"/>
          <p:nvPr/>
        </p:nvSpPr>
        <p:spPr>
          <a:xfrm>
            <a:off x="566928"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2400" b="1" i="0">
                <a:solidFill>
                  <a:srgbClr val="5B7A9D"/>
                </a:solidFill>
                <a:latin typeface="Playfair Display"/>
              </a:rPr>
              <a:t>Dizaines
de millions</a:t>
            </a:r>
          </a:p>
        </p:txBody>
      </p:sp>
      <p:sp>
        <p:nvSpPr>
          <p:cNvPr id="9" name="TextBox 8"/>
          <p:cNvSpPr txBox="1"/>
          <p:nvPr/>
        </p:nvSpPr>
        <p:spPr>
          <a:xfrm>
            <a:off x="566928"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TAM — FRANCOPHONES</a:t>
            </a:r>
          </a:p>
        </p:txBody>
      </p:sp>
      <p:sp>
        <p:nvSpPr>
          <p:cNvPr id="10" name="TextBox 9"/>
          <p:cNvSpPr txBox="1"/>
          <p:nvPr/>
        </p:nvSpPr>
        <p:spPr>
          <a:xfrm>
            <a:off x="566928"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Suisse, France et Belgique sensibles à l'investissement.</a:t>
            </a:r>
          </a:p>
        </p:txBody>
      </p:sp>
      <p:cxnSp>
        <p:nvCxnSpPr>
          <p:cNvPr id="11" name="Connector 10"/>
          <p:cNvCxnSpPr/>
          <p:nvPr/>
        </p:nvCxnSpPr>
        <p:spPr>
          <a:xfrm>
            <a:off x="4176674" y="2231136"/>
            <a:ext cx="0" cy="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05274"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3200" b="1" i="0">
                <a:solidFill>
                  <a:srgbClr val="0F2742"/>
                </a:solidFill>
                <a:latin typeface="Playfair Display"/>
              </a:rPr>
              <a:t>100–200 k</a:t>
            </a:r>
          </a:p>
        </p:txBody>
      </p:sp>
      <p:sp>
        <p:nvSpPr>
          <p:cNvPr id="13" name="TextBox 12"/>
          <p:cNvSpPr txBox="1"/>
          <p:nvPr/>
        </p:nvSpPr>
        <p:spPr>
          <a:xfrm>
            <a:off x="4405274"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SAM — ROMANDIE</a:t>
            </a:r>
          </a:p>
        </p:txBody>
      </p:sp>
      <p:sp>
        <p:nvSpPr>
          <p:cNvPr id="14" name="TextBox 13"/>
          <p:cNvSpPr txBox="1"/>
          <p:nvPr/>
        </p:nvSpPr>
        <p:spPr>
          <a:xfrm>
            <a:off x="4405274"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5 à 10 % de la population romande adulte intéressée par l'info de marché.</a:t>
            </a:r>
          </a:p>
        </p:txBody>
      </p:sp>
      <p:cxnSp>
        <p:nvCxnSpPr>
          <p:cNvPr id="15" name="Connector 14"/>
          <p:cNvCxnSpPr/>
          <p:nvPr/>
        </p:nvCxnSpPr>
        <p:spPr>
          <a:xfrm>
            <a:off x="8015020" y="2231136"/>
            <a:ext cx="0" cy="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43620"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3000" b="1" i="0">
                <a:solidFill>
                  <a:srgbClr val="C9A34E"/>
                </a:solidFill>
                <a:latin typeface="Playfair Display"/>
              </a:rPr>
              <a:t>2 500–3 500</a:t>
            </a:r>
          </a:p>
        </p:txBody>
      </p:sp>
      <p:sp>
        <p:nvSpPr>
          <p:cNvPr id="17" name="TextBox 16"/>
          <p:cNvSpPr txBox="1"/>
          <p:nvPr/>
        </p:nvSpPr>
        <p:spPr>
          <a:xfrm>
            <a:off x="8243620"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SOM — À 3 ANS</a:t>
            </a:r>
          </a:p>
        </p:txBody>
      </p:sp>
      <p:sp>
        <p:nvSpPr>
          <p:cNvPr id="18" name="TextBox 17"/>
          <p:cNvSpPr txBox="1"/>
          <p:nvPr/>
        </p:nvSpPr>
        <p:spPr>
          <a:xfrm>
            <a:off x="8243620"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Une fraction de pour-cent du marché adressable. La contrainte est l'exécution.</a:t>
            </a:r>
          </a:p>
        </p:txBody>
      </p:sp>
      <p:cxnSp>
        <p:nvCxnSpPr>
          <p:cNvPr id="19" name="Connector 18"/>
          <p:cNvCxnSpPr/>
          <p:nvPr/>
        </p:nvCxnSpPr>
        <p:spPr>
          <a:xfrm>
            <a:off x="4176674" y="2322576"/>
            <a:ext cx="0" cy="146304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015020" y="2322576"/>
            <a:ext cx="0" cy="146304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080760"/>
            <a:ext cx="11057839" cy="320040"/>
          </a:xfrm>
          <a:prstGeom prst="rect">
            <a:avLst/>
          </a:prstGeom>
          <a:noFill/>
        </p:spPr>
        <p:txBody>
          <a:bodyPr wrap="square" anchor="t" lIns="0" rIns="0" tIns="0" bIns="0">
            <a:spAutoFit/>
          </a:bodyPr>
          <a:lstStyle/>
          <a:p>
            <a:pPr algn="l">
              <a:lnSpc>
                <a:spcPct val="105000"/>
              </a:lnSpc>
              <a:spcBef>
                <a:spcPts val="0"/>
              </a:spcBef>
              <a:spcAft>
                <a:spcPts val="400"/>
              </a:spcAft>
            </a:pPr>
            <a:r>
              <a:rPr sz="950" b="0" i="0">
                <a:solidFill>
                  <a:srgbClr val="5B7A9D"/>
                </a:solidFill>
                <a:latin typeface="Arial"/>
              </a:rPr>
              <a:t>La Suisse compte ≈ 9,24 millions d'habitants début 2026, dont la Romandie représente près de 24 % (plus de 2 millions de personnes). Estimations combinant données publiques (OFS) et hypothèses de pénétration.</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Quatre tendances porteuses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MARCHÉ &amp; OPPORTUNITÉ</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66928"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58191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RETAIL</a:t>
            </a:r>
          </a:p>
        </p:txBody>
      </p:sp>
      <p:sp>
        <p:nvSpPr>
          <p:cNvPr id="10" name="TextBox 9"/>
          <p:cNvSpPr txBox="1"/>
          <p:nvPr/>
        </p:nvSpPr>
        <p:spPr>
          <a:xfrm>
            <a:off x="1170432"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Investissement individuel</a:t>
            </a:r>
          </a:p>
        </p:txBody>
      </p:sp>
      <p:sp>
        <p:nvSpPr>
          <p:cNvPr id="11" name="TextBox 10"/>
          <p:cNvSpPr txBox="1"/>
          <p:nvPr/>
        </p:nvSpPr>
        <p:spPr>
          <a:xfrm>
            <a:off x="768096"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L'essor des courtiers en ligne élargit le public qui veut comprendre les marchés, y compris en Suisse.</a:t>
            </a:r>
          </a:p>
        </p:txBody>
      </p:sp>
      <p:sp>
        <p:nvSpPr>
          <p:cNvPr id="12" name="Rounded Rectangle 11"/>
          <p:cNvSpPr/>
          <p:nvPr/>
        </p:nvSpPr>
        <p:spPr>
          <a:xfrm>
            <a:off x="4374794"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5962" y="158191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78298"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ABONNEMENT</a:t>
            </a:r>
          </a:p>
        </p:txBody>
      </p:sp>
      <p:sp>
        <p:nvSpPr>
          <p:cNvPr id="15" name="TextBox 14"/>
          <p:cNvSpPr txBox="1"/>
          <p:nvPr/>
        </p:nvSpPr>
        <p:spPr>
          <a:xfrm>
            <a:off x="4978298"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Économie des newsletters</a:t>
            </a:r>
          </a:p>
        </p:txBody>
      </p:sp>
      <p:sp>
        <p:nvSpPr>
          <p:cNvPr id="16" name="TextBox 15"/>
          <p:cNvSpPr txBox="1"/>
          <p:nvPr/>
        </p:nvSpPr>
        <p:spPr>
          <a:xfrm>
            <a:off x="4575962"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Forte croissance des newsletters payantes ; le public paie désormais directement l'éditeur pour du contenu de qualité.</a:t>
            </a:r>
          </a:p>
        </p:txBody>
      </p:sp>
      <p:sp>
        <p:nvSpPr>
          <p:cNvPr id="17" name="Rounded Rectangle 16"/>
          <p:cNvSpPr/>
          <p:nvPr/>
        </p:nvSpPr>
        <p:spPr>
          <a:xfrm>
            <a:off x="8182660"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83828" y="158191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86164"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LANGUE &amp; POUVOIR D'ACHAT</a:t>
            </a:r>
          </a:p>
        </p:txBody>
      </p:sp>
      <p:sp>
        <p:nvSpPr>
          <p:cNvPr id="20" name="TextBox 19"/>
          <p:cNvSpPr txBox="1"/>
          <p:nvPr/>
        </p:nvSpPr>
        <p:spPr>
          <a:xfrm>
            <a:off x="8786164"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La faille francophone</a:t>
            </a:r>
          </a:p>
        </p:txBody>
      </p:sp>
      <p:sp>
        <p:nvSpPr>
          <p:cNvPr id="21" name="TextBox 20"/>
          <p:cNvSpPr txBox="1"/>
          <p:nvPr/>
        </p:nvSpPr>
        <p:spPr>
          <a:xfrm>
            <a:off x="8383828"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La quasi-totalité du contenu premium est anglophone. 49 CHF/mois est absorbable par la cible romande.</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Paysage concurrentiel</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MARCHÉ &amp; OPPORTUNITÉ</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Quatre catégories, quatre limites pour le francophone qui veut comprendre vite et bien.</a:t>
            </a:r>
          </a:p>
        </p:txBody>
      </p:sp>
      <p:graphicFrame>
        <p:nvGraphicFramePr>
          <p:cNvPr id="8" name="Table 7"/>
          <p:cNvGraphicFramePr>
            <a:graphicFrameLocks noGrp="1"/>
          </p:cNvGraphicFramePr>
          <p:nvPr/>
        </p:nvGraphicFramePr>
        <p:xfrm>
          <a:off x="566928" y="1728216"/>
          <a:ext cx="11057837" cy="2377440"/>
        </p:xfrm>
        <a:graphic>
          <a:graphicData uri="http://schemas.openxmlformats.org/drawingml/2006/table">
            <a:tbl>
              <a:tblPr>
                <a:tableStyleId>{5C22544A-7EE6-4342-B048-85BDC9FD1C3A}</a:tableStyleId>
              </a:tblPr>
              <a:tblGrid>
                <a:gridCol w="3317351"/>
                <a:gridCol w="3317351"/>
                <a:gridCol w="4423135"/>
              </a:tblGrid>
              <a:tr h="475488">
                <a:tc>
                  <a:txBody>
                    <a:bodyPr/>
                    <a:lstStyle/>
                    <a:p>
                      <a:pPr algn="l"/>
                      <a:r>
                        <a:rPr sz="1100" b="1">
                          <a:solidFill>
                            <a:srgbClr val="F7F7F4"/>
                          </a:solidFill>
                          <a:latin typeface="Arial"/>
                        </a:rPr>
                        <a:t>Catégorie</a:t>
                      </a:r>
                    </a:p>
                  </a:txBody>
                  <a:tcPr anchor="ctr" marL="91440" marR="91440" marT="36576" marB="36576">
                    <a:solidFill>
                      <a:srgbClr val="0F2742"/>
                    </a:solidFill>
                  </a:tcPr>
                </a:tc>
                <a:tc>
                  <a:txBody>
                    <a:bodyPr/>
                    <a:lstStyle/>
                    <a:p>
                      <a:pPr algn="l"/>
                      <a:r>
                        <a:rPr sz="1100" b="1">
                          <a:solidFill>
                            <a:srgbClr val="F7F7F4"/>
                          </a:solidFill>
                          <a:latin typeface="Arial"/>
                        </a:rPr>
                        <a:t>Exemples</a:t>
                      </a:r>
                    </a:p>
                  </a:txBody>
                  <a:tcPr anchor="ctr" marL="91440" marR="91440" marT="36576" marB="36576">
                    <a:solidFill>
                      <a:srgbClr val="0F2742"/>
                    </a:solidFill>
                  </a:tcPr>
                </a:tc>
                <a:tc>
                  <a:txBody>
                    <a:bodyPr/>
                    <a:lstStyle/>
                    <a:p>
                      <a:pPr algn="l"/>
                      <a:r>
                        <a:rPr sz="1100" b="1">
                          <a:solidFill>
                            <a:srgbClr val="F7F7F4"/>
                          </a:solidFill>
                          <a:latin typeface="Arial"/>
                        </a:rPr>
                        <a:t>Limite pour la cible WMB</a:t>
                      </a:r>
                    </a:p>
                  </a:txBody>
                  <a:tcPr anchor="ctr" marL="91440" marR="91440" marT="36576" marB="36576">
                    <a:solidFill>
                      <a:srgbClr val="0F2742"/>
                    </a:solidFill>
                  </a:tcPr>
                </a:tc>
              </a:tr>
              <a:tr h="475488">
                <a:tc>
                  <a:txBody>
                    <a:bodyPr/>
                    <a:lstStyle/>
                    <a:p>
                      <a:pPr algn="l"/>
                      <a:r>
                        <a:rPr sz="1050" b="1">
                          <a:solidFill>
                            <a:srgbClr val="0F2742"/>
                          </a:solidFill>
                          <a:latin typeface="Arial"/>
                        </a:rPr>
                        <a:t>Médias financiers anglophones</a:t>
                      </a:r>
                    </a:p>
                  </a:txBody>
                  <a:tcPr anchor="ctr" marL="91440" marR="91440" marT="27432" marB="27432">
                    <a:solidFill>
                      <a:srgbClr val="FFFFFF"/>
                    </a:solidFill>
                  </a:tcPr>
                </a:tc>
                <a:tc>
                  <a:txBody>
                    <a:bodyPr/>
                    <a:lstStyle/>
                    <a:p>
                      <a:pPr algn="l"/>
                      <a:r>
                        <a:rPr sz="1050" b="0">
                          <a:solidFill>
                            <a:srgbClr val="1A1A1A"/>
                          </a:solidFill>
                          <a:latin typeface="Arial"/>
                        </a:rPr>
                        <a:t>Bloomberg, CNBC, Morning Brew</a:t>
                      </a:r>
                    </a:p>
                  </a:txBody>
                  <a:tcPr anchor="ctr" marL="91440" marR="91440" marT="27432" marB="27432">
                    <a:solidFill>
                      <a:srgbClr val="FFFFFF"/>
                    </a:solidFill>
                  </a:tcPr>
                </a:tc>
                <a:tc>
                  <a:txBody>
                    <a:bodyPr/>
                    <a:lstStyle/>
                    <a:p>
                      <a:pPr algn="l"/>
                      <a:r>
                        <a:rPr sz="1050" b="0">
                          <a:solidFill>
                            <a:srgbClr val="1A1A1A"/>
                          </a:solidFill>
                          <a:latin typeface="Arial"/>
                        </a:rPr>
                        <a:t>En anglais, peu centrés sur la Suisse</a:t>
                      </a:r>
                    </a:p>
                  </a:txBody>
                  <a:tcPr anchor="ctr" marL="91440" marR="91440" marT="27432" marB="27432">
                    <a:solidFill>
                      <a:srgbClr val="FFFFFF"/>
                    </a:solidFill>
                  </a:tcPr>
                </a:tc>
              </a:tr>
              <a:tr h="475488">
                <a:tc>
                  <a:txBody>
                    <a:bodyPr/>
                    <a:lstStyle/>
                    <a:p>
                      <a:pPr algn="l"/>
                      <a:r>
                        <a:rPr sz="1050" b="1">
                          <a:solidFill>
                            <a:srgbClr val="0F2742"/>
                          </a:solidFill>
                          <a:latin typeface="Arial"/>
                        </a:rPr>
                        <a:t>Presse économique suisse/française</a:t>
                      </a:r>
                    </a:p>
                  </a:txBody>
                  <a:tcPr anchor="ctr" marL="91440" marR="91440" marT="27432" marB="27432">
                    <a:solidFill>
                      <a:srgbClr val="F5F6F8"/>
                    </a:solidFill>
                  </a:tcPr>
                </a:tc>
                <a:tc>
                  <a:txBody>
                    <a:bodyPr/>
                    <a:lstStyle/>
                    <a:p>
                      <a:pPr algn="l"/>
                      <a:r>
                        <a:rPr sz="1050" b="0">
                          <a:solidFill>
                            <a:srgbClr val="1A1A1A"/>
                          </a:solidFill>
                          <a:latin typeface="Arial"/>
                        </a:rPr>
                        <a:t>Titres économiques, pages bourse</a:t>
                      </a:r>
                    </a:p>
                  </a:txBody>
                  <a:tcPr anchor="ctr" marL="91440" marR="91440" marT="27432" marB="27432">
                    <a:solidFill>
                      <a:srgbClr val="F5F6F8"/>
                    </a:solidFill>
                  </a:tcPr>
                </a:tc>
                <a:tc>
                  <a:txBody>
                    <a:bodyPr/>
                    <a:lstStyle/>
                    <a:p>
                      <a:pPr algn="l"/>
                      <a:r>
                        <a:rPr sz="1050" b="0">
                          <a:solidFill>
                            <a:srgbClr val="1A1A1A"/>
                          </a:solidFill>
                          <a:latin typeface="Arial"/>
                        </a:rPr>
                        <a:t>Aride, lent, peu pédagogique</a:t>
                      </a:r>
                    </a:p>
                  </a:txBody>
                  <a:tcPr anchor="ctr" marL="91440" marR="91440" marT="27432" marB="27432">
                    <a:solidFill>
                      <a:srgbClr val="F5F6F8"/>
                    </a:solidFill>
                  </a:tcPr>
                </a:tc>
              </a:tr>
              <a:tr h="475488">
                <a:tc>
                  <a:txBody>
                    <a:bodyPr/>
                    <a:lstStyle/>
                    <a:p>
                      <a:pPr algn="l"/>
                      <a:r>
                        <a:rPr sz="1050" b="1">
                          <a:solidFill>
                            <a:srgbClr val="0F2742"/>
                          </a:solidFill>
                          <a:latin typeface="Arial"/>
                        </a:rPr>
                        <a:t>Contenus finance réseaux sociaux</a:t>
                      </a:r>
                    </a:p>
                  </a:txBody>
                  <a:tcPr anchor="ctr" marL="91440" marR="91440" marT="27432" marB="27432">
                    <a:solidFill>
                      <a:srgbClr val="FFFFFF"/>
                    </a:solidFill>
                  </a:tcPr>
                </a:tc>
                <a:tc>
                  <a:txBody>
                    <a:bodyPr/>
                    <a:lstStyle/>
                    <a:p>
                      <a:pPr algn="l"/>
                      <a:r>
                        <a:rPr sz="1050" b="0">
                          <a:solidFill>
                            <a:srgbClr val="1A1A1A"/>
                          </a:solidFill>
                          <a:latin typeface="Arial"/>
                        </a:rPr>
                        <a:t>Influenceurs, chaînes YouTube</a:t>
                      </a:r>
                    </a:p>
                  </a:txBody>
                  <a:tcPr anchor="ctr" marL="91440" marR="91440" marT="27432" marB="27432">
                    <a:solidFill>
                      <a:srgbClr val="FFFFFF"/>
                    </a:solidFill>
                  </a:tcPr>
                </a:tc>
                <a:tc>
                  <a:txBody>
                    <a:bodyPr/>
                    <a:lstStyle/>
                    <a:p>
                      <a:pPr algn="l"/>
                      <a:r>
                        <a:rPr sz="1050" b="0">
                          <a:solidFill>
                            <a:srgbClr val="1A1A1A"/>
                          </a:solidFill>
                          <a:latin typeface="Arial"/>
                        </a:rPr>
                        <a:t>Souvent racoleurs, non sourcés, conseil déguisé</a:t>
                      </a:r>
                    </a:p>
                  </a:txBody>
                  <a:tcPr anchor="ctr" marL="91440" marR="91440" marT="27432" marB="27432">
                    <a:solidFill>
                      <a:srgbClr val="FFFFFF"/>
                    </a:solidFill>
                  </a:tcPr>
                </a:tc>
              </a:tr>
              <a:tr h="475488">
                <a:tc>
                  <a:txBody>
                    <a:bodyPr/>
                    <a:lstStyle/>
                    <a:p>
                      <a:pPr algn="l"/>
                      <a:r>
                        <a:rPr sz="1050" b="1">
                          <a:solidFill>
                            <a:srgbClr val="0F2742"/>
                          </a:solidFill>
                          <a:latin typeface="Arial"/>
                        </a:rPr>
                        <a:t>Recherche bancaire</a:t>
                      </a:r>
                    </a:p>
                  </a:txBody>
                  <a:tcPr anchor="ctr" marL="91440" marR="91440" marT="27432" marB="27432">
                    <a:solidFill>
                      <a:srgbClr val="F5F6F8"/>
                    </a:solidFill>
                  </a:tcPr>
                </a:tc>
                <a:tc>
                  <a:txBody>
                    <a:bodyPr/>
                    <a:lstStyle/>
                    <a:p>
                      <a:pPr algn="l"/>
                      <a:r>
                        <a:rPr sz="1050" b="0">
                          <a:solidFill>
                            <a:srgbClr val="1A1A1A"/>
                          </a:solidFill>
                          <a:latin typeface="Arial"/>
                        </a:rPr>
                        <a:t>Notes des banques</a:t>
                      </a:r>
                    </a:p>
                  </a:txBody>
                  <a:tcPr anchor="ctr" marL="91440" marR="91440" marT="27432" marB="27432">
                    <a:solidFill>
                      <a:srgbClr val="F5F6F8"/>
                    </a:solidFill>
                  </a:tcPr>
                </a:tc>
                <a:tc>
                  <a:txBody>
                    <a:bodyPr/>
                    <a:lstStyle/>
                    <a:p>
                      <a:pPr algn="l"/>
                      <a:r>
                        <a:rPr sz="1050" b="0">
                          <a:solidFill>
                            <a:srgbClr val="1A1A1A"/>
                          </a:solidFill>
                          <a:latin typeface="Arial"/>
                        </a:rPr>
                        <a:t>Réservée aux clients, jargon, conflits d'intérêts</a:t>
                      </a:r>
                    </a:p>
                  </a:txBody>
                  <a:tcPr anchor="ctr" marL="91440" marR="91440" marT="27432" marB="27432">
                    <a:solidFill>
                      <a:srgbClr val="F5F6F8"/>
                    </a:solidFill>
                  </a:tcPr>
                </a:tc>
              </a:tr>
            </a:tbl>
          </a:graphicData>
        </a:graphic>
      </p:graphicFrame>
      <p:cxnSp>
        <p:nvCxnSpPr>
          <p:cNvPr id="9" name="Connector 8"/>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1" name="TextBox 10"/>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 positionnement unique de WMB</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MARCHÉ &amp; OPPORTUNITÉ</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Un espace vide à l'intersection de quatre attributs rarement réunis : français + suisse + premium + éducatif.</a:t>
            </a:r>
          </a:p>
        </p:txBody>
      </p:sp>
      <p:sp>
        <p:nvSpPr>
          <p:cNvPr id="8" name="Rounded Rectangle 7"/>
          <p:cNvSpPr/>
          <p:nvPr/>
        </p:nvSpPr>
        <p:spPr>
          <a:xfrm>
            <a:off x="566928" y="1728216"/>
            <a:ext cx="5300319" cy="4261104"/>
          </a:xfrm>
          <a:prstGeom prst="roundRect">
            <a:avLst>
              <a:gd name="adj" fmla="val 4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28216"/>
            <a:ext cx="5300319" cy="566928"/>
          </a:xfrm>
          <a:prstGeom prst="roundRect">
            <a:avLst>
              <a:gd name="adj" fmla="val 4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975104"/>
            <a:ext cx="5300319" cy="32004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728216"/>
            <a:ext cx="4843119" cy="566928"/>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FFFFFF"/>
                </a:solidFill>
                <a:latin typeface="Arial"/>
              </a:rPr>
              <a:t>CE QUE WMB EST</a:t>
            </a:r>
          </a:p>
        </p:txBody>
      </p:sp>
      <p:sp>
        <p:nvSpPr>
          <p:cNvPr id="12" name="TextBox 11"/>
          <p:cNvSpPr txBox="1"/>
          <p:nvPr/>
        </p:nvSpPr>
        <p:spPr>
          <a:xfrm>
            <a:off x="795528" y="2459736"/>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a:t>
            </a:r>
          </a:p>
        </p:txBody>
      </p:sp>
      <p:sp>
        <p:nvSpPr>
          <p:cNvPr id="13" name="TextBox 12"/>
          <p:cNvSpPr txBox="1"/>
          <p:nvPr/>
        </p:nvSpPr>
        <p:spPr>
          <a:xfrm>
            <a:off x="1069848" y="2459736"/>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Français et pensé pour la Suisse romande, puis France et Belgique.</a:t>
            </a:r>
          </a:p>
        </p:txBody>
      </p:sp>
      <p:sp>
        <p:nvSpPr>
          <p:cNvPr id="14" name="TextBox 13"/>
          <p:cNvSpPr txBox="1"/>
          <p:nvPr/>
        </p:nvSpPr>
        <p:spPr>
          <a:xfrm>
            <a:off x="795528" y="2990088"/>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a:t>
            </a:r>
          </a:p>
        </p:txBody>
      </p:sp>
      <p:sp>
        <p:nvSpPr>
          <p:cNvPr id="15" name="TextBox 14"/>
          <p:cNvSpPr txBox="1"/>
          <p:nvPr/>
        </p:nvSpPr>
        <p:spPr>
          <a:xfrm>
            <a:off x="1069848" y="2990088"/>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Premium : qualité, format et prix assumés pour un public à forte valeur.</a:t>
            </a:r>
          </a:p>
        </p:txBody>
      </p:sp>
      <p:sp>
        <p:nvSpPr>
          <p:cNvPr id="16" name="TextBox 15"/>
          <p:cNvSpPr txBox="1"/>
          <p:nvPr/>
        </p:nvSpPr>
        <p:spPr>
          <a:xfrm>
            <a:off x="795528" y="3520440"/>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a:t>
            </a:r>
          </a:p>
        </p:txBody>
      </p:sp>
      <p:sp>
        <p:nvSpPr>
          <p:cNvPr id="17" name="TextBox 16"/>
          <p:cNvSpPr txBox="1"/>
          <p:nvPr/>
        </p:nvSpPr>
        <p:spPr>
          <a:xfrm>
            <a:off x="1069848" y="3520440"/>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Strictement éducatif : contexte, faits, scénarios — jamais de conseil.</a:t>
            </a:r>
          </a:p>
        </p:txBody>
      </p:sp>
      <p:sp>
        <p:nvSpPr>
          <p:cNvPr id="18" name="TextBox 17"/>
          <p:cNvSpPr txBox="1"/>
          <p:nvPr/>
        </p:nvSpPr>
        <p:spPr>
          <a:xfrm>
            <a:off x="795528" y="4050792"/>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a:t>
            </a:r>
          </a:p>
        </p:txBody>
      </p:sp>
      <p:sp>
        <p:nvSpPr>
          <p:cNvPr id="19" name="TextBox 18"/>
          <p:cNvSpPr txBox="1"/>
          <p:nvPr/>
        </p:nvSpPr>
        <p:spPr>
          <a:xfrm>
            <a:off x="1069848" y="4050792"/>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Plus pédagogique que la presse, plus rigoureux que les influenceurs.</a:t>
            </a:r>
          </a:p>
        </p:txBody>
      </p:sp>
      <p:sp>
        <p:nvSpPr>
          <p:cNvPr id="20" name="Rounded Rectangle 19"/>
          <p:cNvSpPr/>
          <p:nvPr/>
        </p:nvSpPr>
        <p:spPr>
          <a:xfrm>
            <a:off x="6324447" y="1728216"/>
            <a:ext cx="5300319" cy="4261104"/>
          </a:xfrm>
          <a:prstGeom prst="roundRect">
            <a:avLst>
              <a:gd name="adj" fmla="val 4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447" y="1728216"/>
            <a:ext cx="5300319" cy="566928"/>
          </a:xfrm>
          <a:prstGeom prst="roundRect">
            <a:avLst>
              <a:gd name="adj" fmla="val 4000"/>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24447" y="1975104"/>
            <a:ext cx="5300319" cy="320040"/>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3047" y="1728216"/>
            <a:ext cx="4843119" cy="566928"/>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FFFFFF"/>
                </a:solidFill>
                <a:latin typeface="Arial"/>
              </a:rPr>
              <a:t>CE QUE WMB N'EST PAS</a:t>
            </a:r>
          </a:p>
        </p:txBody>
      </p:sp>
      <p:sp>
        <p:nvSpPr>
          <p:cNvPr id="24" name="TextBox 23"/>
          <p:cNvSpPr txBox="1"/>
          <p:nvPr/>
        </p:nvSpPr>
        <p:spPr>
          <a:xfrm>
            <a:off x="6553047" y="2459736"/>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a:t>
            </a:r>
          </a:p>
        </p:txBody>
      </p:sp>
      <p:sp>
        <p:nvSpPr>
          <p:cNvPr id="25" name="TextBox 24"/>
          <p:cNvSpPr txBox="1"/>
          <p:nvPr/>
        </p:nvSpPr>
        <p:spPr>
          <a:xfrm>
            <a:off x="6827367" y="2459736"/>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Ni une newsletter anglophone de plus, déconnectée de la Suisse.</a:t>
            </a:r>
          </a:p>
        </p:txBody>
      </p:sp>
      <p:sp>
        <p:nvSpPr>
          <p:cNvPr id="26" name="TextBox 25"/>
          <p:cNvSpPr txBox="1"/>
          <p:nvPr/>
        </p:nvSpPr>
        <p:spPr>
          <a:xfrm>
            <a:off x="6553047" y="2990088"/>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a:t>
            </a:r>
          </a:p>
        </p:txBody>
      </p:sp>
      <p:sp>
        <p:nvSpPr>
          <p:cNvPr id="27" name="TextBox 26"/>
          <p:cNvSpPr txBox="1"/>
          <p:nvPr/>
        </p:nvSpPr>
        <p:spPr>
          <a:xfrm>
            <a:off x="6827367" y="2990088"/>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Ni un rapport bancaire aride réservé aux initiés.</a:t>
            </a:r>
          </a:p>
        </p:txBody>
      </p:sp>
      <p:sp>
        <p:nvSpPr>
          <p:cNvPr id="28" name="TextBox 27"/>
          <p:cNvSpPr txBox="1"/>
          <p:nvPr/>
        </p:nvSpPr>
        <p:spPr>
          <a:xfrm>
            <a:off x="6553047" y="3355848"/>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a:t>
            </a:r>
          </a:p>
        </p:txBody>
      </p:sp>
      <p:sp>
        <p:nvSpPr>
          <p:cNvPr id="29" name="TextBox 28"/>
          <p:cNvSpPr txBox="1"/>
          <p:nvPr/>
        </p:nvSpPr>
        <p:spPr>
          <a:xfrm>
            <a:off x="6827367" y="3355848"/>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Ni un compte « finance » racoleur promettant des gains.</a:t>
            </a:r>
          </a:p>
        </p:txBody>
      </p:sp>
      <p:sp>
        <p:nvSpPr>
          <p:cNvPr id="30" name="TextBox 29"/>
          <p:cNvSpPr txBox="1"/>
          <p:nvPr/>
        </p:nvSpPr>
        <p:spPr>
          <a:xfrm>
            <a:off x="6553047" y="3886200"/>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a:t>
            </a:r>
          </a:p>
        </p:txBody>
      </p:sp>
      <p:sp>
        <p:nvSpPr>
          <p:cNvPr id="31" name="TextBox 30"/>
          <p:cNvSpPr txBox="1"/>
          <p:nvPr/>
        </p:nvSpPr>
        <p:spPr>
          <a:xfrm>
            <a:off x="6827367" y="3886200"/>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Ni un service de conseil ou de signaux de trading réglementé.</a:t>
            </a:r>
          </a:p>
        </p:txBody>
      </p:sp>
      <p:cxnSp>
        <p:nvCxnSpPr>
          <p:cNvPr id="32" name="Connector 3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34" name="TextBox 3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Avantages défendables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MARCHÉ &amp; OPPORTUNITÉ</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Quatre moats : marque, habitude quotidienne, pipeline propriétaire et identité éditoriale.</a:t>
            </a:r>
          </a:p>
        </p:txBody>
      </p:sp>
      <p:sp>
        <p:nvSpPr>
          <p:cNvPr id="8" name="Rounded Rectangle 7"/>
          <p:cNvSpPr/>
          <p:nvPr/>
        </p:nvSpPr>
        <p:spPr>
          <a:xfrm>
            <a:off x="566928"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194767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MARQUE</a:t>
            </a:r>
          </a:p>
        </p:txBody>
      </p:sp>
      <p:sp>
        <p:nvSpPr>
          <p:cNvPr id="11" name="TextBox 10"/>
          <p:cNvSpPr txBox="1"/>
          <p:nvPr/>
        </p:nvSpPr>
        <p:spPr>
          <a:xfrm>
            <a:off x="1170432"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Confiance &amp; rigueur</a:t>
            </a:r>
          </a:p>
        </p:txBody>
      </p:sp>
      <p:sp>
        <p:nvSpPr>
          <p:cNvPr id="12" name="TextBox 11"/>
          <p:cNvSpPr txBox="1"/>
          <p:nvPr/>
        </p:nvSpPr>
        <p:spPr>
          <a:xfrm>
            <a:off x="768096"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Une réputation de fiabilité se construit lentement et se copie difficilement.</a:t>
            </a:r>
          </a:p>
        </p:txBody>
      </p:sp>
      <p:sp>
        <p:nvSpPr>
          <p:cNvPr id="13" name="Rounded Rectangle 12"/>
          <p:cNvSpPr/>
          <p:nvPr/>
        </p:nvSpPr>
        <p:spPr>
          <a:xfrm>
            <a:off x="4374794"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5962" y="194767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8298"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HABITUDE</a:t>
            </a:r>
          </a:p>
        </p:txBody>
      </p:sp>
      <p:sp>
        <p:nvSpPr>
          <p:cNvPr id="16" name="TextBox 15"/>
          <p:cNvSpPr txBox="1"/>
          <p:nvPr/>
        </p:nvSpPr>
        <p:spPr>
          <a:xfrm>
            <a:off x="4978298"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Le rendez-vous matinal</a:t>
            </a:r>
          </a:p>
        </p:txBody>
      </p:sp>
      <p:sp>
        <p:nvSpPr>
          <p:cNvPr id="17" name="TextBox 16"/>
          <p:cNvSpPr txBox="1"/>
          <p:nvPr/>
        </p:nvSpPr>
        <p:spPr>
          <a:xfrm>
            <a:off x="4575962"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Le briefing quotidien crée un réflexe récurrent et une rétention forte.</a:t>
            </a:r>
          </a:p>
        </p:txBody>
      </p:sp>
      <p:sp>
        <p:nvSpPr>
          <p:cNvPr id="18" name="Rounded Rectangle 17"/>
          <p:cNvSpPr/>
          <p:nvPr/>
        </p:nvSpPr>
        <p:spPr>
          <a:xfrm>
            <a:off x="8182660"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83828" y="194767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6164"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PIPELINE</a:t>
            </a:r>
          </a:p>
        </p:txBody>
      </p:sp>
      <p:sp>
        <p:nvSpPr>
          <p:cNvPr id="21" name="TextBox 20"/>
          <p:cNvSpPr txBox="1"/>
          <p:nvPr/>
        </p:nvSpPr>
        <p:spPr>
          <a:xfrm>
            <a:off x="8786164"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Production assistée par IA</a:t>
            </a:r>
          </a:p>
        </p:txBody>
      </p:sp>
      <p:sp>
        <p:nvSpPr>
          <p:cNvPr id="22" name="TextBox 21"/>
          <p:cNvSpPr txBox="1"/>
          <p:nvPr/>
        </p:nvSpPr>
        <p:spPr>
          <a:xfrm>
            <a:off x="8383828"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Un savoir-faire propriétaire (schémas, prompts, contrôle qualité) difficile à reproduire en solo.</a:t>
            </a:r>
          </a:p>
        </p:txBody>
      </p:sp>
      <p:cxnSp>
        <p:nvCxnSpPr>
          <p:cNvPr id="23" name="Connector 22"/>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5" name="TextBox 24"/>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03120"/>
            <a:ext cx="2743200" cy="2011680"/>
          </a:xfrm>
          <a:prstGeom prst="rect">
            <a:avLst/>
          </a:prstGeom>
          <a:noFill/>
        </p:spPr>
        <p:txBody>
          <a:bodyPr wrap="square" anchor="ctr" lIns="0" rIns="0" tIns="0" bIns="0">
            <a:spAutoFit/>
          </a:bodyPr>
          <a:lstStyle/>
          <a:p>
            <a:pPr algn="l">
              <a:lnSpc>
                <a:spcPct val="100000"/>
              </a:lnSpc>
              <a:spcBef>
                <a:spcPts val="0"/>
              </a:spcBef>
              <a:spcAft>
                <a:spcPts val="400"/>
              </a:spcAft>
            </a:pPr>
            <a:r>
              <a:rPr sz="12000" b="1" i="0">
                <a:solidFill>
                  <a:srgbClr val="1B3A5C"/>
                </a:solidFill>
                <a:latin typeface="Playfair Display"/>
              </a:rPr>
              <a:t>4</a:t>
            </a:r>
          </a:p>
        </p:txBody>
      </p:sp>
      <p:sp>
        <p:nvSpPr>
          <p:cNvPr id="4" name="Rectangle 3"/>
          <p:cNvSpPr/>
          <p:nvPr/>
        </p:nvSpPr>
        <p:spPr>
          <a:xfrm>
            <a:off x="566928" y="3977639"/>
            <a:ext cx="548640" cy="82296"/>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206240"/>
            <a:ext cx="11057839"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7F7F4"/>
                </a:solidFill>
                <a:latin typeface="Playfair Display"/>
              </a:rPr>
              <a:t>Modèle économique</a:t>
            </a:r>
          </a:p>
        </p:txBody>
      </p:sp>
      <p:sp>
        <p:nvSpPr>
          <p:cNvPr id="6" name="TextBox 5"/>
          <p:cNvSpPr txBox="1"/>
          <p:nvPr/>
        </p:nvSpPr>
        <p:spPr>
          <a:xfrm>
            <a:off x="566928" y="5074920"/>
            <a:ext cx="9686239" cy="731520"/>
          </a:xfrm>
          <a:prstGeom prst="rect">
            <a:avLst/>
          </a:prstGeom>
          <a:noFill/>
        </p:spPr>
        <p:txBody>
          <a:bodyPr wrap="square" anchor="t" lIns="0" rIns="0" tIns="0" bIns="0">
            <a:spAutoFit/>
          </a:bodyPr>
          <a:lstStyle/>
          <a:p>
            <a:pPr algn="l">
              <a:lnSpc>
                <a:spcPct val="120000"/>
              </a:lnSpc>
              <a:spcBef>
                <a:spcPts val="0"/>
              </a:spcBef>
              <a:spcAft>
                <a:spcPts val="400"/>
              </a:spcAft>
            </a:pPr>
            <a:r>
              <a:rPr sz="1500" b="0" i="1">
                <a:solidFill>
                  <a:srgbClr val="9DB2C9"/>
                </a:solidFill>
                <a:latin typeface="Arial"/>
              </a:rPr>
              <a:t>Un abonnement récurrent premium, alimenté par un funnel gratuit et la publicité Meta.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 modèle d'abonnement</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MODÈLE ÉCONOMIQUE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Source principale : l'abonnement récurrent. Sources secondaires à activer : B2B, sponsoring encadré, contenus premium.</a:t>
            </a:r>
          </a:p>
        </p:txBody>
      </p:sp>
      <p:sp>
        <p:nvSpPr>
          <p:cNvPr id="8" name="TextBox 7"/>
          <p:cNvSpPr txBox="1"/>
          <p:nvPr/>
        </p:nvSpPr>
        <p:spPr>
          <a:xfrm>
            <a:off x="566928"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5000" b="1" i="0">
                <a:solidFill>
                  <a:srgbClr val="C9A34E"/>
                </a:solidFill>
                <a:latin typeface="Playfair Display"/>
              </a:rPr>
              <a:t>49</a:t>
            </a:r>
          </a:p>
        </p:txBody>
      </p:sp>
      <p:sp>
        <p:nvSpPr>
          <p:cNvPr id="9" name="TextBox 8"/>
          <p:cNvSpPr txBox="1"/>
          <p:nvPr/>
        </p:nvSpPr>
        <p:spPr>
          <a:xfrm>
            <a:off x="566928"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CHF / MOIS</a:t>
            </a:r>
          </a:p>
        </p:txBody>
      </p:sp>
      <p:sp>
        <p:nvSpPr>
          <p:cNvPr id="10" name="TextBox 9"/>
          <p:cNvSpPr txBox="1"/>
          <p:nvPr/>
        </p:nvSpPr>
        <p:spPr>
          <a:xfrm>
            <a:off x="566928"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Prix de référence mensuel, volontairement premium.</a:t>
            </a:r>
          </a:p>
        </p:txBody>
      </p:sp>
      <p:cxnSp>
        <p:nvCxnSpPr>
          <p:cNvPr id="11" name="Connector 10"/>
          <p:cNvCxnSpPr/>
          <p:nvPr/>
        </p:nvCxnSpPr>
        <p:spPr>
          <a:xfrm>
            <a:off x="4176674" y="2231136"/>
            <a:ext cx="0" cy="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05274"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5000" b="1" i="0">
                <a:solidFill>
                  <a:srgbClr val="0F2742"/>
                </a:solidFill>
                <a:latin typeface="Playfair Display"/>
              </a:rPr>
              <a:t>490</a:t>
            </a:r>
          </a:p>
        </p:txBody>
      </p:sp>
      <p:sp>
        <p:nvSpPr>
          <p:cNvPr id="13" name="TextBox 12"/>
          <p:cNvSpPr txBox="1"/>
          <p:nvPr/>
        </p:nvSpPr>
        <p:spPr>
          <a:xfrm>
            <a:off x="4405274"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CHF / AN</a:t>
            </a:r>
          </a:p>
        </p:txBody>
      </p:sp>
      <p:sp>
        <p:nvSpPr>
          <p:cNvPr id="14" name="TextBox 13"/>
          <p:cNvSpPr txBox="1"/>
          <p:nvPr/>
        </p:nvSpPr>
        <p:spPr>
          <a:xfrm>
            <a:off x="4405274"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Option annuelle (deux mois offerts) — meilleure rétention.</a:t>
            </a:r>
          </a:p>
        </p:txBody>
      </p:sp>
      <p:cxnSp>
        <p:nvCxnSpPr>
          <p:cNvPr id="15" name="Connector 14"/>
          <p:cNvCxnSpPr/>
          <p:nvPr/>
        </p:nvCxnSpPr>
        <p:spPr>
          <a:xfrm>
            <a:off x="8015020" y="2231136"/>
            <a:ext cx="0" cy="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43620"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3800" b="1" i="0">
                <a:solidFill>
                  <a:srgbClr val="5B7A9D"/>
                </a:solidFill>
                <a:latin typeface="Playfair Display"/>
              </a:rPr>
              <a:t>5–15 $</a:t>
            </a:r>
          </a:p>
        </p:txBody>
      </p:sp>
      <p:sp>
        <p:nvSpPr>
          <p:cNvPr id="17" name="TextBox 16"/>
          <p:cNvSpPr txBox="1"/>
          <p:nvPr/>
        </p:nvSpPr>
        <p:spPr>
          <a:xfrm>
            <a:off x="8243620"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MARCHÉ DOMINANT</a:t>
            </a:r>
          </a:p>
        </p:txBody>
      </p:sp>
      <p:sp>
        <p:nvSpPr>
          <p:cNvPr id="18" name="TextBox 17"/>
          <p:cNvSpPr txBox="1"/>
          <p:nvPr/>
        </p:nvSpPr>
        <p:spPr>
          <a:xfrm>
            <a:off x="8243620"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WMB assume un volume plus faible mais une valeur par abonné élevée.</a:t>
            </a:r>
          </a:p>
        </p:txBody>
      </p:sp>
      <p:cxnSp>
        <p:nvCxnSpPr>
          <p:cNvPr id="19" name="Connector 18"/>
          <p:cNvCxnSpPr/>
          <p:nvPr/>
        </p:nvCxnSpPr>
        <p:spPr>
          <a:xfrm>
            <a:off x="4176674" y="2322576"/>
            <a:ext cx="0" cy="146304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015020" y="2322576"/>
            <a:ext cx="0" cy="146304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080760"/>
            <a:ext cx="11057839" cy="320040"/>
          </a:xfrm>
          <a:prstGeom prst="rect">
            <a:avLst/>
          </a:prstGeom>
          <a:noFill/>
        </p:spPr>
        <p:txBody>
          <a:bodyPr wrap="square" anchor="t" lIns="0" rIns="0" tIns="0" bIns="0">
            <a:spAutoFit/>
          </a:bodyPr>
          <a:lstStyle/>
          <a:p>
            <a:pPr algn="l">
              <a:lnSpc>
                <a:spcPct val="105000"/>
              </a:lnSpc>
              <a:spcBef>
                <a:spcPts val="0"/>
              </a:spcBef>
              <a:spcAft>
                <a:spcPts val="400"/>
              </a:spcAft>
            </a:pPr>
            <a:r>
              <a:rPr sz="950" b="0" i="0">
                <a:solidFill>
                  <a:srgbClr val="5B7A9D"/>
                </a:solidFill>
                <a:latin typeface="Arial"/>
              </a:rPr>
              <a:t>Le positionnement à 49 CHF impose une exigence de qualité et une différenciation forte entre le gratuit et le payant. Toute source de revenu est subordonnée à l'indépendance éditoriale.</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Économie unitaire (illustrative)</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MODÈLE ÉCONOMIQUE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Une économie unitaire saine est la condition d'une croissance autofinancée.</a:t>
            </a:r>
          </a:p>
        </p:txBody>
      </p:sp>
      <p:sp>
        <p:nvSpPr>
          <p:cNvPr id="8" name="TextBox 7"/>
          <p:cNvSpPr txBox="1"/>
          <p:nvPr/>
        </p:nvSpPr>
        <p:spPr>
          <a:xfrm>
            <a:off x="566928"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3600" b="1" i="0">
                <a:solidFill>
                  <a:srgbClr val="2E7D5B"/>
                </a:solidFill>
                <a:latin typeface="Playfair Display"/>
              </a:rPr>
              <a:t>750–880</a:t>
            </a:r>
          </a:p>
        </p:txBody>
      </p:sp>
      <p:sp>
        <p:nvSpPr>
          <p:cNvPr id="9" name="TextBox 8"/>
          <p:cNvSpPr txBox="1"/>
          <p:nvPr/>
        </p:nvSpPr>
        <p:spPr>
          <a:xfrm>
            <a:off x="566928"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CHF · LTV BRUTE</a:t>
            </a:r>
          </a:p>
        </p:txBody>
      </p:sp>
      <p:sp>
        <p:nvSpPr>
          <p:cNvPr id="10" name="TextBox 9"/>
          <p:cNvSpPr txBox="1"/>
          <p:nvPr/>
        </p:nvSpPr>
        <p:spPr>
          <a:xfrm>
            <a:off x="566928"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À 49 CHF/mois et 15–18 mois de durée de vie moyenne.</a:t>
            </a:r>
          </a:p>
        </p:txBody>
      </p:sp>
      <p:cxnSp>
        <p:nvCxnSpPr>
          <p:cNvPr id="11" name="Connector 10"/>
          <p:cNvCxnSpPr/>
          <p:nvPr/>
        </p:nvCxnSpPr>
        <p:spPr>
          <a:xfrm>
            <a:off x="4176674" y="2231136"/>
            <a:ext cx="0" cy="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05274"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3600" b="1" i="0">
                <a:solidFill>
                  <a:srgbClr val="0F2742"/>
                </a:solidFill>
                <a:latin typeface="Playfair Display"/>
              </a:rPr>
              <a:t>40–100</a:t>
            </a:r>
          </a:p>
        </p:txBody>
      </p:sp>
      <p:sp>
        <p:nvSpPr>
          <p:cNvPr id="13" name="TextBox 12"/>
          <p:cNvSpPr txBox="1"/>
          <p:nvPr/>
        </p:nvSpPr>
        <p:spPr>
          <a:xfrm>
            <a:off x="4405274"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CHF · CAC</a:t>
            </a:r>
          </a:p>
        </p:txBody>
      </p:sp>
      <p:sp>
        <p:nvSpPr>
          <p:cNvPr id="14" name="TextBox 13"/>
          <p:cNvSpPr txBox="1"/>
          <p:nvPr/>
        </p:nvSpPr>
        <p:spPr>
          <a:xfrm>
            <a:off x="4405274"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Via le funnel gratuit + publicité Meta.</a:t>
            </a:r>
          </a:p>
        </p:txBody>
      </p:sp>
      <p:cxnSp>
        <p:nvCxnSpPr>
          <p:cNvPr id="15" name="Connector 14"/>
          <p:cNvCxnSpPr/>
          <p:nvPr/>
        </p:nvCxnSpPr>
        <p:spPr>
          <a:xfrm>
            <a:off x="8015020" y="2231136"/>
            <a:ext cx="0" cy="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43620" y="2231136"/>
            <a:ext cx="3381146" cy="822960"/>
          </a:xfrm>
          <a:prstGeom prst="rect">
            <a:avLst/>
          </a:prstGeom>
          <a:noFill/>
        </p:spPr>
        <p:txBody>
          <a:bodyPr wrap="square" anchor="ctr" lIns="0" rIns="0" tIns="0" bIns="0">
            <a:spAutoFit/>
          </a:bodyPr>
          <a:lstStyle/>
          <a:p>
            <a:pPr algn="l">
              <a:lnSpc>
                <a:spcPct val="100000"/>
              </a:lnSpc>
              <a:spcBef>
                <a:spcPts val="0"/>
              </a:spcBef>
              <a:spcAft>
                <a:spcPts val="400"/>
              </a:spcAft>
            </a:pPr>
            <a:r>
              <a:rPr sz="4000" b="1" i="0">
                <a:solidFill>
                  <a:srgbClr val="C9A34E"/>
                </a:solidFill>
                <a:latin typeface="Playfair Display"/>
              </a:rPr>
              <a:t>&gt; 5 : 1</a:t>
            </a:r>
          </a:p>
        </p:txBody>
      </p:sp>
      <p:sp>
        <p:nvSpPr>
          <p:cNvPr id="17" name="TextBox 16"/>
          <p:cNvSpPr txBox="1"/>
          <p:nvPr/>
        </p:nvSpPr>
        <p:spPr>
          <a:xfrm>
            <a:off x="8243620" y="3072384"/>
            <a:ext cx="3381146" cy="292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0F2742"/>
                </a:solidFill>
                <a:latin typeface="Arial"/>
              </a:rPr>
              <a:t>RATIO LTV / CAC</a:t>
            </a:r>
          </a:p>
        </p:txBody>
      </p:sp>
      <p:sp>
        <p:nvSpPr>
          <p:cNvPr id="18" name="TextBox 17"/>
          <p:cNvSpPr txBox="1"/>
          <p:nvPr/>
        </p:nvSpPr>
        <p:spPr>
          <a:xfrm>
            <a:off x="8243620" y="3364992"/>
            <a:ext cx="3381146" cy="64008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5B7A9D"/>
                </a:solidFill>
                <a:latin typeface="Arial"/>
              </a:rPr>
              <a:t>Cible saine, compatible avec une croissance financée par la marge.</a:t>
            </a:r>
          </a:p>
        </p:txBody>
      </p:sp>
      <p:cxnSp>
        <p:nvCxnSpPr>
          <p:cNvPr id="19" name="Connector 18"/>
          <p:cNvCxnSpPr/>
          <p:nvPr/>
        </p:nvCxnSpPr>
        <p:spPr>
          <a:xfrm>
            <a:off x="4176674" y="2322576"/>
            <a:ext cx="0" cy="146304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015020" y="2322576"/>
            <a:ext cx="0" cy="1463040"/>
          </a:xfrm>
          <a:prstGeom prst="bentConnector3">
            <a:avLst/>
          </a:prstGeom>
          <a:ln w="9525">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080760"/>
            <a:ext cx="11057839" cy="320040"/>
          </a:xfrm>
          <a:prstGeom prst="rect">
            <a:avLst/>
          </a:prstGeom>
          <a:noFill/>
        </p:spPr>
        <p:txBody>
          <a:bodyPr wrap="square" anchor="t" lIns="0" rIns="0" tIns="0" bIns="0">
            <a:spAutoFit/>
          </a:bodyPr>
          <a:lstStyle/>
          <a:p>
            <a:pPr algn="l">
              <a:lnSpc>
                <a:spcPct val="105000"/>
              </a:lnSpc>
              <a:spcBef>
                <a:spcPts val="0"/>
              </a:spcBef>
              <a:spcAft>
                <a:spcPts val="400"/>
              </a:spcAft>
            </a:pPr>
            <a:r>
              <a:rPr sz="950" b="0" i="0">
                <a:solidFill>
                  <a:srgbClr val="5B7A9D"/>
                </a:solidFill>
                <a:latin typeface="Arial"/>
              </a:rPr>
              <a:t>Chiffres illustratifs fondés sur des hypothèses explicites — ni données réalisées, ni garantie de résultat.</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 funnel d'acquisition</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MODÈLE ÉCONOMIQUE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De l'inconnu à l'abonné fidèle, en cinq étapes mesurables.</a:t>
            </a:r>
          </a:p>
        </p:txBody>
      </p:sp>
      <p:sp>
        <p:nvSpPr>
          <p:cNvPr id="8" name="Rounded Rectangle 7"/>
          <p:cNvSpPr/>
          <p:nvPr/>
        </p:nvSpPr>
        <p:spPr>
          <a:xfrm>
            <a:off x="566928" y="1956816"/>
            <a:ext cx="2006742"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21408"/>
            <a:ext cx="1677558"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01</a:t>
            </a:r>
          </a:p>
        </p:txBody>
      </p:sp>
      <p:sp>
        <p:nvSpPr>
          <p:cNvPr id="10" name="TextBox 9"/>
          <p:cNvSpPr txBox="1"/>
          <p:nvPr/>
        </p:nvSpPr>
        <p:spPr>
          <a:xfrm>
            <a:off x="731520" y="2670048"/>
            <a:ext cx="1677558"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Notoriété</a:t>
            </a:r>
          </a:p>
        </p:txBody>
      </p:sp>
      <p:sp>
        <p:nvSpPr>
          <p:cNvPr id="11" name="TextBox 10"/>
          <p:cNvSpPr txBox="1"/>
          <p:nvPr/>
        </p:nvSpPr>
        <p:spPr>
          <a:xfrm>
            <a:off x="731520" y="3255264"/>
            <a:ext cx="1677558"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Contenu Instagram/Facebook + publicité Meta ciblée sur la Romandie.</a:t>
            </a:r>
          </a:p>
        </p:txBody>
      </p:sp>
      <p:sp>
        <p:nvSpPr>
          <p:cNvPr id="12" name="TextBox 11"/>
          <p:cNvSpPr txBox="1"/>
          <p:nvPr/>
        </p:nvSpPr>
        <p:spPr>
          <a:xfrm>
            <a:off x="2555382"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13" name="Rounded Rectangle 12"/>
          <p:cNvSpPr/>
          <p:nvPr/>
        </p:nvSpPr>
        <p:spPr>
          <a:xfrm>
            <a:off x="2829702" y="1956816"/>
            <a:ext cx="2006742"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4294" y="2121408"/>
            <a:ext cx="1677558"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02</a:t>
            </a:r>
          </a:p>
        </p:txBody>
      </p:sp>
      <p:sp>
        <p:nvSpPr>
          <p:cNvPr id="15" name="TextBox 14"/>
          <p:cNvSpPr txBox="1"/>
          <p:nvPr/>
        </p:nvSpPr>
        <p:spPr>
          <a:xfrm>
            <a:off x="2994294" y="2670048"/>
            <a:ext cx="1677558"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Capture</a:t>
            </a:r>
          </a:p>
        </p:txBody>
      </p:sp>
      <p:sp>
        <p:nvSpPr>
          <p:cNvPr id="16" name="TextBox 15"/>
          <p:cNvSpPr txBox="1"/>
          <p:nvPr/>
        </p:nvSpPr>
        <p:spPr>
          <a:xfrm>
            <a:off x="2994294" y="3255264"/>
            <a:ext cx="1677558"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Inscription gratuite au Briefing Quotidien, l'aimant principal.</a:t>
            </a:r>
          </a:p>
        </p:txBody>
      </p:sp>
      <p:sp>
        <p:nvSpPr>
          <p:cNvPr id="17" name="TextBox 16"/>
          <p:cNvSpPr txBox="1"/>
          <p:nvPr/>
        </p:nvSpPr>
        <p:spPr>
          <a:xfrm>
            <a:off x="4818156"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18" name="Rounded Rectangle 17"/>
          <p:cNvSpPr/>
          <p:nvPr/>
        </p:nvSpPr>
        <p:spPr>
          <a:xfrm>
            <a:off x="5092476" y="1956816"/>
            <a:ext cx="2006742"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7068" y="2121408"/>
            <a:ext cx="1677558"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03</a:t>
            </a:r>
          </a:p>
        </p:txBody>
      </p:sp>
      <p:sp>
        <p:nvSpPr>
          <p:cNvPr id="20" name="TextBox 19"/>
          <p:cNvSpPr txBox="1"/>
          <p:nvPr/>
        </p:nvSpPr>
        <p:spPr>
          <a:xfrm>
            <a:off x="5257068" y="2670048"/>
            <a:ext cx="1677558"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Activation</a:t>
            </a:r>
          </a:p>
        </p:txBody>
      </p:sp>
      <p:sp>
        <p:nvSpPr>
          <p:cNvPr id="21" name="TextBox 20"/>
          <p:cNvSpPr txBox="1"/>
          <p:nvPr/>
        </p:nvSpPr>
        <p:spPr>
          <a:xfrm>
            <a:off x="5257068" y="3255264"/>
            <a:ext cx="1677558"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Le lecteur prend l'habitude du rendez-vous matinal.</a:t>
            </a:r>
          </a:p>
        </p:txBody>
      </p:sp>
      <p:sp>
        <p:nvSpPr>
          <p:cNvPr id="22" name="TextBox 21"/>
          <p:cNvSpPr txBox="1"/>
          <p:nvPr/>
        </p:nvSpPr>
        <p:spPr>
          <a:xfrm>
            <a:off x="7080930"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23" name="Rounded Rectangle 22"/>
          <p:cNvSpPr/>
          <p:nvPr/>
        </p:nvSpPr>
        <p:spPr>
          <a:xfrm>
            <a:off x="7355250" y="1956816"/>
            <a:ext cx="2006742"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19842" y="2121408"/>
            <a:ext cx="1677558"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04</a:t>
            </a:r>
          </a:p>
        </p:txBody>
      </p:sp>
      <p:sp>
        <p:nvSpPr>
          <p:cNvPr id="25" name="TextBox 24"/>
          <p:cNvSpPr txBox="1"/>
          <p:nvPr/>
        </p:nvSpPr>
        <p:spPr>
          <a:xfrm>
            <a:off x="7519842" y="2670048"/>
            <a:ext cx="1677558"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Conversion</a:t>
            </a:r>
          </a:p>
        </p:txBody>
      </p:sp>
      <p:sp>
        <p:nvSpPr>
          <p:cNvPr id="26" name="TextBox 25"/>
          <p:cNvSpPr txBox="1"/>
          <p:nvPr/>
        </p:nvSpPr>
        <p:spPr>
          <a:xfrm>
            <a:off x="7519842" y="3255264"/>
            <a:ext cx="1677558"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Passage au payant, déclenché par la valeur du brief hebdo et des thèmes.</a:t>
            </a:r>
          </a:p>
        </p:txBody>
      </p:sp>
      <p:sp>
        <p:nvSpPr>
          <p:cNvPr id="27" name="TextBox 26"/>
          <p:cNvSpPr txBox="1"/>
          <p:nvPr/>
        </p:nvSpPr>
        <p:spPr>
          <a:xfrm>
            <a:off x="9343704"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28" name="Rounded Rectangle 27"/>
          <p:cNvSpPr/>
          <p:nvPr/>
        </p:nvSpPr>
        <p:spPr>
          <a:xfrm>
            <a:off x="9618024" y="1956816"/>
            <a:ext cx="2006742"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82616" y="2121408"/>
            <a:ext cx="1677558"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05</a:t>
            </a:r>
          </a:p>
        </p:txBody>
      </p:sp>
      <p:sp>
        <p:nvSpPr>
          <p:cNvPr id="30" name="TextBox 29"/>
          <p:cNvSpPr txBox="1"/>
          <p:nvPr/>
        </p:nvSpPr>
        <p:spPr>
          <a:xfrm>
            <a:off x="9782616" y="2670048"/>
            <a:ext cx="1677558"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Rétention</a:t>
            </a:r>
          </a:p>
        </p:txBody>
      </p:sp>
      <p:sp>
        <p:nvSpPr>
          <p:cNvPr id="31" name="TextBox 30"/>
          <p:cNvSpPr txBox="1"/>
          <p:nvPr/>
        </p:nvSpPr>
        <p:spPr>
          <a:xfrm>
            <a:off x="9782616" y="3255264"/>
            <a:ext cx="1677558"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Qualité constante, offre annuelle, montée en valeur via les thèmes.</a:t>
            </a:r>
          </a:p>
        </p:txBody>
      </p:sp>
      <p:cxnSp>
        <p:nvCxnSpPr>
          <p:cNvPr id="32" name="Connector 3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34" name="TextBox 3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Repères de conversion gratuit → payant</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MODÈLE ÉCONOMIQUE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La conversion se matérialise souvent après plusieurs mois d'exposition gratuite.</a:t>
            </a:r>
          </a:p>
        </p:txBody>
      </p:sp>
      <p:graphicFrame>
        <p:nvGraphicFramePr>
          <p:cNvPr id="8" name="Chart 7"/>
          <p:cNvGraphicFramePr>
            <a:graphicFrameLocks noGrp="1"/>
          </p:cNvGraphicFramePr>
          <p:nvPr/>
        </p:nvGraphicFramePr>
        <p:xfrm>
          <a:off x="566928" y="1773936"/>
          <a:ext cx="7298173" cy="4352544"/>
        </p:xfrm>
        <a:graphic>
          <a:graphicData uri="http://schemas.openxmlformats.org/drawingml/2006/chart">
            <c:chart xmlns:c="http://schemas.openxmlformats.org/drawingml/2006/chart" r:id="rId2"/>
          </a:graphicData>
        </a:graphic>
      </p:graphicFrame>
      <p:sp>
        <p:nvSpPr>
          <p:cNvPr id="9" name="Rectangle 8"/>
          <p:cNvSpPr/>
          <p:nvPr/>
        </p:nvSpPr>
        <p:spPr>
          <a:xfrm>
            <a:off x="8276581" y="1865376"/>
            <a:ext cx="91440" cy="82296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14325" y="1819656"/>
            <a:ext cx="3110441"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F2742"/>
                </a:solidFill>
                <a:latin typeface="Playfair Display"/>
              </a:rPr>
              <a:t>2 à 5 %</a:t>
            </a:r>
          </a:p>
        </p:txBody>
      </p:sp>
      <p:sp>
        <p:nvSpPr>
          <p:cNvPr id="11" name="TextBox 10"/>
          <p:cNvSpPr txBox="1"/>
          <p:nvPr/>
        </p:nvSpPr>
        <p:spPr>
          <a:xfrm>
            <a:off x="8514325" y="2203704"/>
            <a:ext cx="3110441" cy="82296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La fourchette typique du marché des newsletters payantes, médiane autour de 3 %.</a:t>
            </a:r>
          </a:p>
        </p:txBody>
      </p:sp>
      <p:sp>
        <p:nvSpPr>
          <p:cNvPr id="12" name="TextBox 11"/>
          <p:cNvSpPr txBox="1"/>
          <p:nvPr/>
        </p:nvSpPr>
        <p:spPr>
          <a:xfrm>
            <a:off x="8514325" y="3054096"/>
            <a:ext cx="3110441"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F2742"/>
                </a:solidFill>
                <a:latin typeface="Playfair Display"/>
              </a:rPr>
              <a:t>Réchauffer dans la durée</a:t>
            </a:r>
          </a:p>
        </p:txBody>
      </p:sp>
      <p:sp>
        <p:nvSpPr>
          <p:cNvPr id="13" name="TextBox 12"/>
          <p:cNvSpPr txBox="1"/>
          <p:nvPr/>
        </p:nvSpPr>
        <p:spPr>
          <a:xfrm>
            <a:off x="8514325" y="3438144"/>
            <a:ext cx="3110441" cy="82296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Un briefing quotidien régulier entretient l'audience jusqu'à la conversion.</a:t>
            </a:r>
          </a:p>
        </p:txBody>
      </p:sp>
      <p:cxnSp>
        <p:nvCxnSpPr>
          <p:cNvPr id="14" name="Connector 13"/>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6" name="TextBox 15"/>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Les canaux d'acquisition</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MODÈLE ÉCONOMIQUE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66928"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58191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PAYANT</a:t>
            </a:r>
          </a:p>
        </p:txBody>
      </p:sp>
      <p:sp>
        <p:nvSpPr>
          <p:cNvPr id="10" name="TextBox 9"/>
          <p:cNvSpPr txBox="1"/>
          <p:nvPr/>
        </p:nvSpPr>
        <p:spPr>
          <a:xfrm>
            <a:off x="1170432"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Meta</a:t>
            </a:r>
          </a:p>
        </p:txBody>
      </p:sp>
      <p:sp>
        <p:nvSpPr>
          <p:cNvPr id="11" name="TextBox 10"/>
          <p:cNvSpPr txBox="1"/>
          <p:nvPr/>
        </p:nvSpPr>
        <p:spPr>
          <a:xfrm>
            <a:off x="768096"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Facebook/Instagram : canal principal, mesurable et scalable, ciblé sur la Romandie.</a:t>
            </a:r>
          </a:p>
        </p:txBody>
      </p:sp>
      <p:sp>
        <p:nvSpPr>
          <p:cNvPr id="12" name="Rounded Rectangle 11"/>
          <p:cNvSpPr/>
          <p:nvPr/>
        </p:nvSpPr>
        <p:spPr>
          <a:xfrm>
            <a:off x="4374794"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5962" y="158191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78298"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ORGANIQUE</a:t>
            </a:r>
          </a:p>
        </p:txBody>
      </p:sp>
      <p:sp>
        <p:nvSpPr>
          <p:cNvPr id="15" name="TextBox 14"/>
          <p:cNvSpPr txBox="1"/>
          <p:nvPr/>
        </p:nvSpPr>
        <p:spPr>
          <a:xfrm>
            <a:off x="4978298"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Social &amp; SEO</a:t>
            </a:r>
          </a:p>
        </p:txBody>
      </p:sp>
      <p:sp>
        <p:nvSpPr>
          <p:cNvPr id="16" name="TextBox 15"/>
          <p:cNvSpPr txBox="1"/>
          <p:nvPr/>
        </p:nvSpPr>
        <p:spPr>
          <a:xfrm>
            <a:off x="4575962"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Contenu visuel WMB régulier ; glossaire et thématiques comme aimant de recherche.</a:t>
            </a:r>
          </a:p>
        </p:txBody>
      </p:sp>
      <p:sp>
        <p:nvSpPr>
          <p:cNvPr id="17" name="Rounded Rectangle 16"/>
          <p:cNvSpPr/>
          <p:nvPr/>
        </p:nvSpPr>
        <p:spPr>
          <a:xfrm>
            <a:off x="8182660"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83828" y="158191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86164"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RELATIONNEL</a:t>
            </a:r>
          </a:p>
        </p:txBody>
      </p:sp>
      <p:sp>
        <p:nvSpPr>
          <p:cNvPr id="20" name="TextBox 19"/>
          <p:cNvSpPr txBox="1"/>
          <p:nvPr/>
        </p:nvSpPr>
        <p:spPr>
          <a:xfrm>
            <a:off x="8786164"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Parrainage &amp; partenariats</a:t>
            </a:r>
          </a:p>
        </p:txBody>
      </p:sp>
      <p:sp>
        <p:nvSpPr>
          <p:cNvPr id="21" name="TextBox 20"/>
          <p:cNvSpPr txBox="1"/>
          <p:nvPr/>
        </p:nvSpPr>
        <p:spPr>
          <a:xfrm>
            <a:off x="8383828"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Bouche-à-oreille entre abonnés, médias romands, communautés finance, événements locaux.</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03120"/>
            <a:ext cx="2743200" cy="2011680"/>
          </a:xfrm>
          <a:prstGeom prst="rect">
            <a:avLst/>
          </a:prstGeom>
          <a:noFill/>
        </p:spPr>
        <p:txBody>
          <a:bodyPr wrap="square" anchor="ctr" lIns="0" rIns="0" tIns="0" bIns="0">
            <a:spAutoFit/>
          </a:bodyPr>
          <a:lstStyle/>
          <a:p>
            <a:pPr algn="l">
              <a:lnSpc>
                <a:spcPct val="100000"/>
              </a:lnSpc>
              <a:spcBef>
                <a:spcPts val="0"/>
              </a:spcBef>
              <a:spcAft>
                <a:spcPts val="400"/>
              </a:spcAft>
            </a:pPr>
            <a:r>
              <a:rPr sz="12000" b="1" i="0">
                <a:solidFill>
                  <a:srgbClr val="1B3A5C"/>
                </a:solidFill>
                <a:latin typeface="Playfair Display"/>
              </a:rPr>
              <a:t>5</a:t>
            </a:r>
          </a:p>
        </p:txBody>
      </p:sp>
      <p:sp>
        <p:nvSpPr>
          <p:cNvPr id="4" name="Rectangle 3"/>
          <p:cNvSpPr/>
          <p:nvPr/>
        </p:nvSpPr>
        <p:spPr>
          <a:xfrm>
            <a:off x="566928" y="3977639"/>
            <a:ext cx="548640" cy="82296"/>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206240"/>
            <a:ext cx="11057839"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7F7F4"/>
                </a:solidFill>
                <a:latin typeface="Playfair Display"/>
              </a:rPr>
              <a:t>Produit, technologie &amp; site</a:t>
            </a:r>
          </a:p>
        </p:txBody>
      </p:sp>
      <p:sp>
        <p:nvSpPr>
          <p:cNvPr id="6" name="TextBox 5"/>
          <p:cNvSpPr txBox="1"/>
          <p:nvPr/>
        </p:nvSpPr>
        <p:spPr>
          <a:xfrm>
            <a:off x="566928" y="5074920"/>
            <a:ext cx="9686239" cy="731520"/>
          </a:xfrm>
          <a:prstGeom prst="rect">
            <a:avLst/>
          </a:prstGeom>
          <a:noFill/>
        </p:spPr>
        <p:txBody>
          <a:bodyPr wrap="square" anchor="t" lIns="0" rIns="0" tIns="0" bIns="0">
            <a:spAutoFit/>
          </a:bodyPr>
          <a:lstStyle/>
          <a:p>
            <a:pPr algn="l">
              <a:lnSpc>
                <a:spcPct val="120000"/>
              </a:lnSpc>
              <a:spcBef>
                <a:spcPts val="0"/>
              </a:spcBef>
              <a:spcAft>
                <a:spcPts val="400"/>
              </a:spcAft>
            </a:pPr>
            <a:r>
              <a:rPr sz="1500" b="0" i="1">
                <a:solidFill>
                  <a:srgbClr val="9DB2C9"/>
                </a:solidFill>
                <a:latin typeface="Arial"/>
              </a:rPr>
              <a:t>Une plateforme éditoriale pilotée par schémas, plus qu'une simple newsletter.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Architecture technique</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PRODUIT &amp; TECHNOLOGIE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Une pile moderne, sécurisée et adaptée à une petite équipe.</a:t>
            </a:r>
          </a:p>
        </p:txBody>
      </p:sp>
      <p:graphicFrame>
        <p:nvGraphicFramePr>
          <p:cNvPr id="8" name="Table 7"/>
          <p:cNvGraphicFramePr>
            <a:graphicFrameLocks noGrp="1"/>
          </p:cNvGraphicFramePr>
          <p:nvPr/>
        </p:nvGraphicFramePr>
        <p:xfrm>
          <a:off x="566928" y="1728216"/>
          <a:ext cx="11057838" cy="3803904"/>
        </p:xfrm>
        <a:graphic>
          <a:graphicData uri="http://schemas.openxmlformats.org/drawingml/2006/table">
            <a:tbl>
              <a:tblPr>
                <a:tableStyleId>{5C22544A-7EE6-4342-B048-85BDC9FD1C3A}</a:tableStyleId>
              </a:tblPr>
              <a:tblGrid>
                <a:gridCol w="2875038"/>
                <a:gridCol w="3759665"/>
                <a:gridCol w="4423135"/>
              </a:tblGrid>
              <a:tr h="475488">
                <a:tc>
                  <a:txBody>
                    <a:bodyPr/>
                    <a:lstStyle/>
                    <a:p>
                      <a:pPr algn="l"/>
                      <a:r>
                        <a:rPr sz="1100" b="1">
                          <a:solidFill>
                            <a:srgbClr val="F7F7F4"/>
                          </a:solidFill>
                          <a:latin typeface="Arial"/>
                        </a:rPr>
                        <a:t>Couche</a:t>
                      </a:r>
                    </a:p>
                  </a:txBody>
                  <a:tcPr anchor="ctr" marL="91440" marR="91440" marT="36576" marB="36576">
                    <a:solidFill>
                      <a:srgbClr val="0F2742"/>
                    </a:solidFill>
                  </a:tcPr>
                </a:tc>
                <a:tc>
                  <a:txBody>
                    <a:bodyPr/>
                    <a:lstStyle/>
                    <a:p>
                      <a:pPr algn="l"/>
                      <a:r>
                        <a:rPr sz="1100" b="1">
                          <a:solidFill>
                            <a:srgbClr val="F7F7F4"/>
                          </a:solidFill>
                          <a:latin typeface="Arial"/>
                        </a:rPr>
                        <a:t>Technologie</a:t>
                      </a:r>
                    </a:p>
                  </a:txBody>
                  <a:tcPr anchor="ctr" marL="91440" marR="91440" marT="36576" marB="36576">
                    <a:solidFill>
                      <a:srgbClr val="0F2742"/>
                    </a:solidFill>
                  </a:tcPr>
                </a:tc>
                <a:tc>
                  <a:txBody>
                    <a:bodyPr/>
                    <a:lstStyle/>
                    <a:p>
                      <a:pPr algn="l"/>
                      <a:r>
                        <a:rPr sz="1100" b="1">
                          <a:solidFill>
                            <a:srgbClr val="F7F7F4"/>
                          </a:solidFill>
                          <a:latin typeface="Arial"/>
                        </a:rPr>
                        <a:t>Rôle</a:t>
                      </a:r>
                    </a:p>
                  </a:txBody>
                  <a:tcPr anchor="ctr" marL="91440" marR="91440" marT="36576" marB="36576">
                    <a:solidFill>
                      <a:srgbClr val="0F2742"/>
                    </a:solidFill>
                  </a:tcPr>
                </a:tc>
              </a:tr>
              <a:tr h="475488">
                <a:tc>
                  <a:txBody>
                    <a:bodyPr/>
                    <a:lstStyle/>
                    <a:p>
                      <a:pPr algn="l"/>
                      <a:r>
                        <a:rPr sz="1050" b="1">
                          <a:solidFill>
                            <a:srgbClr val="0F2742"/>
                          </a:solidFill>
                          <a:latin typeface="Arial"/>
                        </a:rPr>
                        <a:t>Base de données</a:t>
                      </a:r>
                    </a:p>
                  </a:txBody>
                  <a:tcPr anchor="ctr" marL="91440" marR="91440" marT="27432" marB="27432">
                    <a:solidFill>
                      <a:srgbClr val="FFFFFF"/>
                    </a:solidFill>
                  </a:tcPr>
                </a:tc>
                <a:tc>
                  <a:txBody>
                    <a:bodyPr/>
                    <a:lstStyle/>
                    <a:p>
                      <a:pPr algn="l"/>
                      <a:r>
                        <a:rPr sz="1050" b="0">
                          <a:solidFill>
                            <a:srgbClr val="1A1A1A"/>
                          </a:solidFill>
                          <a:latin typeface="Arial"/>
                        </a:rPr>
                        <a:t>TiDB + Drizzle ORM</a:t>
                      </a:r>
                    </a:p>
                  </a:txBody>
                  <a:tcPr anchor="ctr" marL="91440" marR="91440" marT="27432" marB="27432">
                    <a:solidFill>
                      <a:srgbClr val="FFFFFF"/>
                    </a:solidFill>
                  </a:tcPr>
                </a:tc>
                <a:tc>
                  <a:txBody>
                    <a:bodyPr/>
                    <a:lstStyle/>
                    <a:p>
                      <a:pPr algn="l"/>
                      <a:r>
                        <a:rPr sz="1050" b="0">
                          <a:solidFill>
                            <a:srgbClr val="1A1A1A"/>
                          </a:solidFill>
                          <a:latin typeface="Arial"/>
                        </a:rPr>
                        <a:t>Données structurées des contenus et abonnés</a:t>
                      </a:r>
                    </a:p>
                  </a:txBody>
                  <a:tcPr anchor="ctr" marL="91440" marR="91440" marT="27432" marB="27432">
                    <a:solidFill>
                      <a:srgbClr val="FFFFFF"/>
                    </a:solidFill>
                  </a:tcPr>
                </a:tc>
              </a:tr>
              <a:tr h="475488">
                <a:tc>
                  <a:txBody>
                    <a:bodyPr/>
                    <a:lstStyle/>
                    <a:p>
                      <a:pPr algn="l"/>
                      <a:r>
                        <a:rPr sz="1050" b="1">
                          <a:solidFill>
                            <a:srgbClr val="0F2742"/>
                          </a:solidFill>
                          <a:latin typeface="Arial"/>
                        </a:rPr>
                        <a:t>Stockage de fichiers</a:t>
                      </a:r>
                    </a:p>
                  </a:txBody>
                  <a:tcPr anchor="ctr" marL="91440" marR="91440" marT="27432" marB="27432">
                    <a:solidFill>
                      <a:srgbClr val="F5F6F8"/>
                    </a:solidFill>
                  </a:tcPr>
                </a:tc>
                <a:tc>
                  <a:txBody>
                    <a:bodyPr/>
                    <a:lstStyle/>
                    <a:p>
                      <a:pPr algn="l"/>
                      <a:r>
                        <a:rPr sz="1050" b="0">
                          <a:solidFill>
                            <a:srgbClr val="1A1A1A"/>
                          </a:solidFill>
                          <a:latin typeface="Arial"/>
                        </a:rPr>
                        <a:t>S3</a:t>
                      </a:r>
                    </a:p>
                  </a:txBody>
                  <a:tcPr anchor="ctr" marL="91440" marR="91440" marT="27432" marB="27432">
                    <a:solidFill>
                      <a:srgbClr val="F5F6F8"/>
                    </a:solidFill>
                  </a:tcPr>
                </a:tc>
                <a:tc>
                  <a:txBody>
                    <a:bodyPr/>
                    <a:lstStyle/>
                    <a:p>
                      <a:pPr algn="l"/>
                      <a:r>
                        <a:rPr sz="1050" b="0">
                          <a:solidFill>
                            <a:srgbClr val="1A1A1A"/>
                          </a:solidFill>
                          <a:latin typeface="Arial"/>
                        </a:rPr>
                        <a:t>Assets et médias</a:t>
                      </a:r>
                    </a:p>
                  </a:txBody>
                  <a:tcPr anchor="ctr" marL="91440" marR="91440" marT="27432" marB="27432">
                    <a:solidFill>
                      <a:srgbClr val="F5F6F8"/>
                    </a:solidFill>
                  </a:tcPr>
                </a:tc>
              </a:tr>
              <a:tr h="475488">
                <a:tc>
                  <a:txBody>
                    <a:bodyPr/>
                    <a:lstStyle/>
                    <a:p>
                      <a:pPr algn="l"/>
                      <a:r>
                        <a:rPr sz="1050" b="1">
                          <a:solidFill>
                            <a:srgbClr val="0F2742"/>
                          </a:solidFill>
                          <a:latin typeface="Arial"/>
                        </a:rPr>
                        <a:t>Paiements / abonnements</a:t>
                      </a:r>
                    </a:p>
                  </a:txBody>
                  <a:tcPr anchor="ctr" marL="91440" marR="91440" marT="27432" marB="27432">
                    <a:solidFill>
                      <a:srgbClr val="FFFFFF"/>
                    </a:solidFill>
                  </a:tcPr>
                </a:tc>
                <a:tc>
                  <a:txBody>
                    <a:bodyPr/>
                    <a:lstStyle/>
                    <a:p>
                      <a:pPr algn="l"/>
                      <a:r>
                        <a:rPr sz="1050" b="0">
                          <a:solidFill>
                            <a:srgbClr val="1A1A1A"/>
                          </a:solidFill>
                          <a:latin typeface="Arial"/>
                        </a:rPr>
                        <a:t>Stripe</a:t>
                      </a:r>
                    </a:p>
                  </a:txBody>
                  <a:tcPr anchor="ctr" marL="91440" marR="91440" marT="27432" marB="27432">
                    <a:solidFill>
                      <a:srgbClr val="FFFFFF"/>
                    </a:solidFill>
                  </a:tcPr>
                </a:tc>
                <a:tc>
                  <a:txBody>
                    <a:bodyPr/>
                    <a:lstStyle/>
                    <a:p>
                      <a:pPr algn="l"/>
                      <a:r>
                        <a:rPr sz="1050" b="0">
                          <a:solidFill>
                            <a:srgbClr val="1A1A1A"/>
                          </a:solidFill>
                          <a:latin typeface="Arial"/>
                        </a:rPr>
                        <a:t>Gestion de l'abonnement à 49 CHF/mois</a:t>
                      </a:r>
                    </a:p>
                  </a:txBody>
                  <a:tcPr anchor="ctr" marL="91440" marR="91440" marT="27432" marB="27432">
                    <a:solidFill>
                      <a:srgbClr val="FFFFFF"/>
                    </a:solidFill>
                  </a:tcPr>
                </a:tc>
              </a:tr>
              <a:tr h="475488">
                <a:tc>
                  <a:txBody>
                    <a:bodyPr/>
                    <a:lstStyle/>
                    <a:p>
                      <a:pPr algn="l"/>
                      <a:r>
                        <a:rPr sz="1050" b="1">
                          <a:solidFill>
                            <a:srgbClr val="0F2742"/>
                          </a:solidFill>
                          <a:latin typeface="Arial"/>
                        </a:rPr>
                        <a:t>E-mailing</a:t>
                      </a:r>
                    </a:p>
                  </a:txBody>
                  <a:tcPr anchor="ctr" marL="91440" marR="91440" marT="27432" marB="27432">
                    <a:solidFill>
                      <a:srgbClr val="F5F6F8"/>
                    </a:solidFill>
                  </a:tcPr>
                </a:tc>
                <a:tc>
                  <a:txBody>
                    <a:bodyPr/>
                    <a:lstStyle/>
                    <a:p>
                      <a:pPr algn="l"/>
                      <a:r>
                        <a:rPr sz="1050" b="0">
                          <a:solidFill>
                            <a:srgbClr val="1A1A1A"/>
                          </a:solidFill>
                          <a:latin typeface="Arial"/>
                        </a:rPr>
                        <a:t>Brevo (SMTP)</a:t>
                      </a:r>
                    </a:p>
                  </a:txBody>
                  <a:tcPr anchor="ctr" marL="91440" marR="91440" marT="27432" marB="27432">
                    <a:solidFill>
                      <a:srgbClr val="F5F6F8"/>
                    </a:solidFill>
                  </a:tcPr>
                </a:tc>
                <a:tc>
                  <a:txBody>
                    <a:bodyPr/>
                    <a:lstStyle/>
                    <a:p>
                      <a:pPr algn="l"/>
                      <a:r>
                        <a:rPr sz="1050" b="0">
                          <a:solidFill>
                            <a:srgbClr val="1A1A1A"/>
                          </a:solidFill>
                          <a:latin typeface="Arial"/>
                        </a:rPr>
                        <a:t>Envoi des briefings et modules</a:t>
                      </a:r>
                    </a:p>
                  </a:txBody>
                  <a:tcPr anchor="ctr" marL="91440" marR="91440" marT="27432" marB="27432">
                    <a:solidFill>
                      <a:srgbClr val="F5F6F8"/>
                    </a:solidFill>
                  </a:tcPr>
                </a:tc>
              </a:tr>
              <a:tr h="475488">
                <a:tc>
                  <a:txBody>
                    <a:bodyPr/>
                    <a:lstStyle/>
                    <a:p>
                      <a:pPr algn="l"/>
                      <a:r>
                        <a:rPr sz="1050" b="1">
                          <a:solidFill>
                            <a:srgbClr val="0F2742"/>
                          </a:solidFill>
                          <a:latin typeface="Arial"/>
                        </a:rPr>
                        <a:t>Données de marché</a:t>
                      </a:r>
                    </a:p>
                  </a:txBody>
                  <a:tcPr anchor="ctr" marL="91440" marR="91440" marT="27432" marB="27432">
                    <a:solidFill>
                      <a:srgbClr val="FFFFFF"/>
                    </a:solidFill>
                  </a:tcPr>
                </a:tc>
                <a:tc>
                  <a:txBody>
                    <a:bodyPr/>
                    <a:lstStyle/>
                    <a:p>
                      <a:pPr algn="l"/>
                      <a:r>
                        <a:rPr sz="1050" b="0">
                          <a:solidFill>
                            <a:srgbClr val="1A1A1A"/>
                          </a:solidFill>
                          <a:latin typeface="Arial"/>
                        </a:rPr>
                        <a:t>Finnhub</a:t>
                      </a:r>
                    </a:p>
                  </a:txBody>
                  <a:tcPr anchor="ctr" marL="91440" marR="91440" marT="27432" marB="27432">
                    <a:solidFill>
                      <a:srgbClr val="FFFFFF"/>
                    </a:solidFill>
                  </a:tcPr>
                </a:tc>
                <a:tc>
                  <a:txBody>
                    <a:bodyPr/>
                    <a:lstStyle/>
                    <a:p>
                      <a:pPr algn="l"/>
                      <a:r>
                        <a:rPr sz="1050" b="0">
                          <a:solidFill>
                            <a:srgbClr val="1A1A1A"/>
                          </a:solidFill>
                          <a:latin typeface="Arial"/>
                        </a:rPr>
                        <a:t>Cours, indices, devises (API)</a:t>
                      </a:r>
                    </a:p>
                  </a:txBody>
                  <a:tcPr anchor="ctr" marL="91440" marR="91440" marT="27432" marB="27432">
                    <a:solidFill>
                      <a:srgbClr val="FFFFFF"/>
                    </a:solidFill>
                  </a:tcPr>
                </a:tc>
              </a:tr>
              <a:tr h="475488">
                <a:tc>
                  <a:txBody>
                    <a:bodyPr/>
                    <a:lstStyle/>
                    <a:p>
                      <a:pPr algn="l"/>
                      <a:r>
                        <a:rPr sz="1050" b="1">
                          <a:solidFill>
                            <a:srgbClr val="0F2742"/>
                          </a:solidFill>
                          <a:latin typeface="Arial"/>
                        </a:rPr>
                        <a:t>Authentification</a:t>
                      </a:r>
                    </a:p>
                  </a:txBody>
                  <a:tcPr anchor="ctr" marL="91440" marR="91440" marT="27432" marB="27432">
                    <a:solidFill>
                      <a:srgbClr val="F5F6F8"/>
                    </a:solidFill>
                  </a:tcPr>
                </a:tc>
                <a:tc>
                  <a:txBody>
                    <a:bodyPr/>
                    <a:lstStyle/>
                    <a:p>
                      <a:pPr algn="l"/>
                      <a:r>
                        <a:rPr sz="1050" b="0">
                          <a:solidFill>
                            <a:srgbClr val="1A1A1A"/>
                          </a:solidFill>
                          <a:latin typeface="Arial"/>
                        </a:rPr>
                        <a:t>OAuth + JWT (cookies HttpOnly)</a:t>
                      </a:r>
                    </a:p>
                  </a:txBody>
                  <a:tcPr anchor="ctr" marL="91440" marR="91440" marT="27432" marB="27432">
                    <a:solidFill>
                      <a:srgbClr val="F5F6F8"/>
                    </a:solidFill>
                  </a:tcPr>
                </a:tc>
                <a:tc>
                  <a:txBody>
                    <a:bodyPr/>
                    <a:lstStyle/>
                    <a:p>
                      <a:pPr algn="l"/>
                      <a:r>
                        <a:rPr sz="1050" b="0">
                          <a:solidFill>
                            <a:srgbClr val="1A1A1A"/>
                          </a:solidFill>
                          <a:latin typeface="Arial"/>
                        </a:rPr>
                        <a:t>Sessions sécurisées</a:t>
                      </a:r>
                    </a:p>
                  </a:txBody>
                  <a:tcPr anchor="ctr" marL="91440" marR="91440" marT="27432" marB="27432">
                    <a:solidFill>
                      <a:srgbClr val="F5F6F8"/>
                    </a:solidFill>
                  </a:tcPr>
                </a:tc>
              </a:tr>
              <a:tr h="475488">
                <a:tc>
                  <a:txBody>
                    <a:bodyPr/>
                    <a:lstStyle/>
                    <a:p>
                      <a:pPr algn="l"/>
                      <a:r>
                        <a:rPr sz="1050" b="1">
                          <a:solidFill>
                            <a:srgbClr val="0F2742"/>
                          </a:solidFill>
                          <a:latin typeface="Arial"/>
                        </a:rPr>
                        <a:t>Front</a:t>
                      </a:r>
                    </a:p>
                  </a:txBody>
                  <a:tcPr anchor="ctr" marL="91440" marR="91440" marT="27432" marB="27432">
                    <a:solidFill>
                      <a:srgbClr val="FFFFFF"/>
                    </a:solidFill>
                  </a:tcPr>
                </a:tc>
                <a:tc>
                  <a:txBody>
                    <a:bodyPr/>
                    <a:lstStyle/>
                    <a:p>
                      <a:pPr algn="l"/>
                      <a:r>
                        <a:rPr sz="1050" b="0">
                          <a:solidFill>
                            <a:srgbClr val="1A1A1A"/>
                          </a:solidFill>
                          <a:latin typeface="Arial"/>
                        </a:rPr>
                        <a:t>PWA, rendu côté client</a:t>
                      </a:r>
                    </a:p>
                  </a:txBody>
                  <a:tcPr anchor="ctr" marL="91440" marR="91440" marT="27432" marB="27432">
                    <a:solidFill>
                      <a:srgbClr val="FFFFFF"/>
                    </a:solidFill>
                  </a:tcPr>
                </a:tc>
                <a:tc>
                  <a:txBody>
                    <a:bodyPr/>
                    <a:lstStyle/>
                    <a:p>
                      <a:pPr algn="l"/>
                      <a:r>
                        <a:rPr sz="1050" b="0">
                          <a:solidFill>
                            <a:srgbClr val="1A1A1A"/>
                          </a:solidFill>
                          <a:latin typeface="Arial"/>
                        </a:rPr>
                        <a:t>Application installable, expérience native</a:t>
                      </a:r>
                    </a:p>
                  </a:txBody>
                  <a:tcPr anchor="ctr" marL="91440" marR="91440" marT="27432" marB="27432">
                    <a:solidFill>
                      <a:srgbClr val="FFFFFF"/>
                    </a:solidFill>
                  </a:tcPr>
                </a:tc>
              </a:tr>
            </a:tbl>
          </a:graphicData>
        </a:graphic>
      </p:graphicFrame>
      <p:cxnSp>
        <p:nvCxnSpPr>
          <p:cNvPr id="9" name="Connector 8"/>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1" name="TextBox 10"/>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 pipeline éditorial assisté par IA</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PRODUIT &amp; TECHNOLOGIE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L'avantage opérationnel de WMB : une cadence quotidienne soutenable à très petite équipe.</a:t>
            </a:r>
          </a:p>
        </p:txBody>
      </p:sp>
      <p:sp>
        <p:nvSpPr>
          <p:cNvPr id="8" name="Rounded Rectangle 7"/>
          <p:cNvSpPr/>
          <p:nvPr/>
        </p:nvSpPr>
        <p:spPr>
          <a:xfrm>
            <a:off x="566928" y="1956816"/>
            <a:ext cx="2572435"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21408"/>
            <a:ext cx="2243251"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01</a:t>
            </a:r>
          </a:p>
        </p:txBody>
      </p:sp>
      <p:sp>
        <p:nvSpPr>
          <p:cNvPr id="10" name="TextBox 9"/>
          <p:cNvSpPr txBox="1"/>
          <p:nvPr/>
        </p:nvSpPr>
        <p:spPr>
          <a:xfrm>
            <a:off x="731520" y="2670048"/>
            <a:ext cx="2243251"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Détection</a:t>
            </a:r>
          </a:p>
        </p:txBody>
      </p:sp>
      <p:sp>
        <p:nvSpPr>
          <p:cNvPr id="11" name="TextBox 10"/>
          <p:cNvSpPr txBox="1"/>
          <p:nvPr/>
        </p:nvSpPr>
        <p:spPr>
          <a:xfrm>
            <a:off x="731520" y="3255264"/>
            <a:ext cx="2243251"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Dates et session de marché concernées, détectées automatiquement.</a:t>
            </a:r>
          </a:p>
        </p:txBody>
      </p:sp>
      <p:sp>
        <p:nvSpPr>
          <p:cNvPr id="12" name="TextBox 11"/>
          <p:cNvSpPr txBox="1"/>
          <p:nvPr/>
        </p:nvSpPr>
        <p:spPr>
          <a:xfrm>
            <a:off x="3121075"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13" name="Rounded Rectangle 12"/>
          <p:cNvSpPr/>
          <p:nvPr/>
        </p:nvSpPr>
        <p:spPr>
          <a:xfrm>
            <a:off x="3395395" y="1956816"/>
            <a:ext cx="2572435"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9987" y="2121408"/>
            <a:ext cx="2243251"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02</a:t>
            </a:r>
          </a:p>
        </p:txBody>
      </p:sp>
      <p:sp>
        <p:nvSpPr>
          <p:cNvPr id="15" name="TextBox 14"/>
          <p:cNvSpPr txBox="1"/>
          <p:nvPr/>
        </p:nvSpPr>
        <p:spPr>
          <a:xfrm>
            <a:off x="3559987" y="2670048"/>
            <a:ext cx="2243251"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Recherche</a:t>
            </a:r>
          </a:p>
        </p:txBody>
      </p:sp>
      <p:sp>
        <p:nvSpPr>
          <p:cNvPr id="16" name="TextBox 15"/>
          <p:cNvSpPr txBox="1"/>
          <p:nvPr/>
        </p:nvSpPr>
        <p:spPr>
          <a:xfrm>
            <a:off x="3559987" y="3255264"/>
            <a:ext cx="2243251"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Multi-sources, avec vérification croisée (au moins deux sources par chiffre).</a:t>
            </a:r>
          </a:p>
        </p:txBody>
      </p:sp>
      <p:sp>
        <p:nvSpPr>
          <p:cNvPr id="17" name="TextBox 16"/>
          <p:cNvSpPr txBox="1"/>
          <p:nvPr/>
        </p:nvSpPr>
        <p:spPr>
          <a:xfrm>
            <a:off x="5949543"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18" name="Rounded Rectangle 17"/>
          <p:cNvSpPr/>
          <p:nvPr/>
        </p:nvSpPr>
        <p:spPr>
          <a:xfrm>
            <a:off x="6223863" y="1956816"/>
            <a:ext cx="2572435"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455" y="2121408"/>
            <a:ext cx="2243251"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03</a:t>
            </a:r>
          </a:p>
        </p:txBody>
      </p:sp>
      <p:sp>
        <p:nvSpPr>
          <p:cNvPr id="20" name="TextBox 19"/>
          <p:cNvSpPr txBox="1"/>
          <p:nvPr/>
        </p:nvSpPr>
        <p:spPr>
          <a:xfrm>
            <a:off x="6388455" y="2670048"/>
            <a:ext cx="2243251"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Assemblage</a:t>
            </a:r>
          </a:p>
        </p:txBody>
      </p:sp>
      <p:sp>
        <p:nvSpPr>
          <p:cNvPr id="21" name="TextBox 20"/>
          <p:cNvSpPr txBox="1"/>
          <p:nvPr/>
        </p:nvSpPr>
        <p:spPr>
          <a:xfrm>
            <a:off x="6388455" y="3255264"/>
            <a:ext cx="2243251"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Dans un schéma JSON ou Markdown contraint, un format par type de contenu.</a:t>
            </a:r>
          </a:p>
        </p:txBody>
      </p:sp>
      <p:sp>
        <p:nvSpPr>
          <p:cNvPr id="22" name="TextBox 21"/>
          <p:cNvSpPr txBox="1"/>
          <p:nvPr/>
        </p:nvSpPr>
        <p:spPr>
          <a:xfrm>
            <a:off x="8778011"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23" name="Rounded Rectangle 22"/>
          <p:cNvSpPr/>
          <p:nvPr/>
        </p:nvSpPr>
        <p:spPr>
          <a:xfrm>
            <a:off x="9052331" y="1956816"/>
            <a:ext cx="2572435"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16923" y="2121408"/>
            <a:ext cx="2243251"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04</a:t>
            </a:r>
          </a:p>
        </p:txBody>
      </p:sp>
      <p:sp>
        <p:nvSpPr>
          <p:cNvPr id="25" name="TextBox 24"/>
          <p:cNvSpPr txBox="1"/>
          <p:nvPr/>
        </p:nvSpPr>
        <p:spPr>
          <a:xfrm>
            <a:off x="9216923" y="2670048"/>
            <a:ext cx="2243251"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Contrôle qualité</a:t>
            </a:r>
          </a:p>
        </p:txBody>
      </p:sp>
      <p:sp>
        <p:nvSpPr>
          <p:cNvPr id="26" name="TextBox 25"/>
          <p:cNvSpPr txBox="1"/>
          <p:nvPr/>
        </p:nvSpPr>
        <p:spPr>
          <a:xfrm>
            <a:off x="9216923" y="3255264"/>
            <a:ext cx="2243251"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Cohérence des chiffres, sources datées, conventions de format.</a:t>
            </a:r>
          </a:p>
        </p:txBody>
      </p:sp>
      <p:cxnSp>
        <p:nvCxnSpPr>
          <p:cNvPr id="27" name="Connector 26"/>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9" name="TextBox 28"/>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 site : trois produits en un</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LE SITE WMB</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Un fonds documentaire durable qui justifie le premium et nourrit le référencement naturel.</a:t>
            </a:r>
          </a:p>
        </p:txBody>
      </p:sp>
      <p:sp>
        <p:nvSpPr>
          <p:cNvPr id="8" name="Rounded Rectangle 7"/>
          <p:cNvSpPr/>
          <p:nvPr/>
        </p:nvSpPr>
        <p:spPr>
          <a:xfrm>
            <a:off x="566928"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194767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MÉDIA RÉCURRENT</a:t>
            </a:r>
          </a:p>
        </p:txBody>
      </p:sp>
      <p:sp>
        <p:nvSpPr>
          <p:cNvPr id="11" name="TextBox 10"/>
          <p:cNvSpPr txBox="1"/>
          <p:nvPr/>
        </p:nvSpPr>
        <p:spPr>
          <a:xfrm>
            <a:off x="1170432"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Les briefings</a:t>
            </a:r>
          </a:p>
        </p:txBody>
      </p:sp>
      <p:sp>
        <p:nvSpPr>
          <p:cNvPr id="12" name="TextBox 11"/>
          <p:cNvSpPr txBox="1"/>
          <p:nvPr/>
        </p:nvSpPr>
        <p:spPr>
          <a:xfrm>
            <a:off x="768096"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Briefing quotidien gratuit et brief hebdomadaire premium (US + Monde + Suisse), 20 minutes de lecture.</a:t>
            </a:r>
          </a:p>
        </p:txBody>
      </p:sp>
      <p:sp>
        <p:nvSpPr>
          <p:cNvPr id="13" name="Rounded Rectangle 12"/>
          <p:cNvSpPr/>
          <p:nvPr/>
        </p:nvSpPr>
        <p:spPr>
          <a:xfrm>
            <a:off x="4374794"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5962" y="194767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8298"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RÉFÉRENCE</a:t>
            </a:r>
          </a:p>
        </p:txBody>
      </p:sp>
      <p:sp>
        <p:nvSpPr>
          <p:cNvPr id="16" name="TextBox 15"/>
          <p:cNvSpPr txBox="1"/>
          <p:nvPr/>
        </p:nvSpPr>
        <p:spPr>
          <a:xfrm>
            <a:off x="4978298"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La bibliothèque</a:t>
            </a:r>
          </a:p>
        </p:txBody>
      </p:sp>
      <p:sp>
        <p:nvSpPr>
          <p:cNvPr id="17" name="TextBox 16"/>
          <p:cNvSpPr txBox="1"/>
          <p:nvPr/>
        </p:nvSpPr>
        <p:spPr>
          <a:xfrm>
            <a:off x="4575962"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Glossaire de 1 007+ termes, 54 indicateurs techniques, 15+ thématiques d'investissement.</a:t>
            </a:r>
          </a:p>
        </p:txBody>
      </p:sp>
      <p:sp>
        <p:nvSpPr>
          <p:cNvPr id="18" name="Rounded Rectangle 17"/>
          <p:cNvSpPr/>
          <p:nvPr/>
        </p:nvSpPr>
        <p:spPr>
          <a:xfrm>
            <a:off x="8182660"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83828" y="194767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6164"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PÉDAGOGIE</a:t>
            </a:r>
          </a:p>
        </p:txBody>
      </p:sp>
      <p:sp>
        <p:nvSpPr>
          <p:cNvPr id="21" name="TextBox 20"/>
          <p:cNvSpPr txBox="1"/>
          <p:nvPr/>
        </p:nvSpPr>
        <p:spPr>
          <a:xfrm>
            <a:off x="8786164"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La formation</a:t>
            </a:r>
          </a:p>
        </p:txBody>
      </p:sp>
      <p:sp>
        <p:nvSpPr>
          <p:cNvPr id="22" name="TextBox 21"/>
          <p:cNvSpPr txBox="1"/>
          <p:nvPr/>
        </p:nvSpPr>
        <p:spPr>
          <a:xfrm>
            <a:off x="8383828"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Un produit pédagogique à l'investissement et des outils complémentaires.</a:t>
            </a:r>
          </a:p>
        </p:txBody>
      </p:sp>
      <p:cxnSp>
        <p:nvCxnSpPr>
          <p:cNvPr id="23" name="Connector 22"/>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5" name="TextBox 24"/>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 CMS piloté par schémas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LE SITE WMB</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362456"/>
            <a:ext cx="6634703" cy="4809744"/>
          </a:xfrm>
          <a:prstGeom prst="rect">
            <a:avLst/>
          </a:prstGeom>
          <a:noFill/>
        </p:spPr>
        <p:txBody>
          <a:bodyPr wrap="square" anchor="t" lIns="0" rIns="0" tIns="0" bIns="0">
            <a:spAutoFit/>
          </a:bodyPr>
          <a:lstStyle/>
          <a:p>
            <a:pPr algn="l">
              <a:lnSpc>
                <a:spcPct val="118000"/>
              </a:lnSpc>
              <a:spcBef>
                <a:spcPts val="0"/>
              </a:spcBef>
              <a:spcAft>
                <a:spcPts val="1000"/>
              </a:spcAft>
            </a:pPr>
            <a:r>
              <a:rPr sz="1200" b="0" i="0">
                <a:solidFill>
                  <a:srgbClr val="1A1A1A"/>
                </a:solidFill>
                <a:latin typeface="Arial"/>
              </a:rPr>
              <a:t>C'est le cœur opérationnel du site, et son originalité. Le contenu n'est pas mis en page à la main : il est produit dans des formats stricts que le site transforme automatiquement en interface.</a:t>
            </a:r>
          </a:p>
          <a:p>
            <a:pPr algn="l">
              <a:lnSpc>
                <a:spcPct val="118000"/>
              </a:lnSpc>
              <a:spcBef>
                <a:spcPts val="0"/>
              </a:spcBef>
              <a:spcAft>
                <a:spcPts val="1000"/>
              </a:spcAft>
            </a:pPr>
            <a:r>
              <a:rPr sz="1200" b="0" i="0">
                <a:solidFill>
                  <a:srgbClr val="1A1A1A"/>
                </a:solidFill>
                <a:latin typeface="Arial"/>
              </a:rPr>
              <a:t>Les modules (USA, Monde, Suisse, Actions US, Briefing) sont produits en JSON, selon un schéma précis par module. Le site lit le JSON et génère cartes, tableaux et sections.</a:t>
            </a:r>
          </a:p>
          <a:p>
            <a:pPr algn="l">
              <a:lnSpc>
                <a:spcPct val="118000"/>
              </a:lnSpc>
              <a:spcBef>
                <a:spcPts val="0"/>
              </a:spcBef>
              <a:spcAft>
                <a:spcPts val="1000"/>
              </a:spcAft>
            </a:pPr>
            <a:r>
              <a:rPr sz="1200" b="0" i="0">
                <a:solidFill>
                  <a:srgbClr val="1A1A1A"/>
                </a:solidFill>
                <a:latin typeface="Arial"/>
              </a:rPr>
              <a:t>Le Thème du Mois est produit en Markdown. Le site détecte automatiquement des motifs et déclenche des widgets premium : cartes numérotées pour les drivers, cartes colorées par niveau pour les risques, cartes SI / ALORS / SINON pour les scénarios.</a:t>
            </a:r>
          </a:p>
          <a:p>
            <a:pPr algn="l">
              <a:lnSpc>
                <a:spcPct val="118000"/>
              </a:lnSpc>
              <a:spcBef>
                <a:spcPts val="0"/>
              </a:spcBef>
              <a:spcAft>
                <a:spcPts val="1000"/>
              </a:spcAft>
            </a:pPr>
            <a:r>
              <a:rPr sz="1200" b="0" i="0">
                <a:solidFill>
                  <a:srgbClr val="1A1A1A"/>
                </a:solidFill>
                <a:latin typeface="Arial"/>
              </a:rPr>
              <a:t>Séparer le contenu du rendu supprime la mise en page manuelle, garantit une cohérence visuelle parfaite et permet une cadence quotidienne soutenable. C'est l'atout structurel majeur.</a:t>
            </a:r>
          </a:p>
        </p:txBody>
      </p:sp>
      <p:sp>
        <p:nvSpPr>
          <p:cNvPr id="8" name="Rectangle 7"/>
          <p:cNvSpPr/>
          <p:nvPr/>
        </p:nvSpPr>
        <p:spPr>
          <a:xfrm>
            <a:off x="7658831" y="1499616"/>
            <a:ext cx="91440" cy="173736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14863" y="1453896"/>
            <a:ext cx="3709903" cy="2194560"/>
          </a:xfrm>
          <a:prstGeom prst="rect">
            <a:avLst/>
          </a:prstGeom>
          <a:noFill/>
        </p:spPr>
        <p:txBody>
          <a:bodyPr wrap="square" anchor="t" lIns="0" rIns="0" tIns="0" bIns="0">
            <a:spAutoFit/>
          </a:bodyPr>
          <a:lstStyle/>
          <a:p>
            <a:pPr algn="l">
              <a:lnSpc>
                <a:spcPct val="120000"/>
              </a:lnSpc>
              <a:spcBef>
                <a:spcPts val="0"/>
              </a:spcBef>
              <a:spcAft>
                <a:spcPts val="400"/>
              </a:spcAft>
            </a:pPr>
            <a:r>
              <a:rPr sz="1900" b="0" i="1">
                <a:solidFill>
                  <a:srgbClr val="0F2742"/>
                </a:solidFill>
                <a:latin typeface="Playfair Display"/>
              </a:rPr>
              <a:t>Contenu structuré, rendu automatisé : l'atout structurel majeur.</a:t>
            </a:r>
          </a:p>
        </p:txBody>
      </p:sp>
      <p:cxnSp>
        <p:nvCxnSpPr>
          <p:cNvPr id="10" name="Connector 9"/>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2" name="TextBox 11"/>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L'identité visuelle</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LE SITE WMB</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Une charte systématisée : modes standard et BREAKING, symboles par sujet, règles strictes.</a:t>
            </a:r>
          </a:p>
        </p:txBody>
      </p:sp>
      <p:sp>
        <p:nvSpPr>
          <p:cNvPr id="8" name="Rounded Rectangle 7"/>
          <p:cNvSpPr/>
          <p:nvPr/>
        </p:nvSpPr>
        <p:spPr>
          <a:xfrm>
            <a:off x="566928" y="1865376"/>
            <a:ext cx="2558719" cy="1554480"/>
          </a:xfrm>
          <a:prstGeom prst="roundRect">
            <a:avLst>
              <a:gd name="adj" fmla="val 5000"/>
            </a:avLst>
          </a:prstGeom>
          <a:solidFill>
            <a:srgbClr val="344453"/>
          </a:solidFill>
          <a:ln w="635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62656"/>
            <a:ext cx="2229535"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FFFFFF"/>
                </a:solidFill>
                <a:latin typeface="Arial"/>
              </a:rPr>
              <a:t>#344453</a:t>
            </a:r>
          </a:p>
        </p:txBody>
      </p:sp>
      <p:sp>
        <p:nvSpPr>
          <p:cNvPr id="10" name="TextBox 9"/>
          <p:cNvSpPr txBox="1"/>
          <p:nvPr/>
        </p:nvSpPr>
        <p:spPr>
          <a:xfrm>
            <a:off x="566928" y="3529584"/>
            <a:ext cx="2558719"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0F2742"/>
                </a:solidFill>
                <a:latin typeface="Arial"/>
              </a:rPr>
              <a:t>Ardoise foncée</a:t>
            </a:r>
          </a:p>
        </p:txBody>
      </p:sp>
      <p:sp>
        <p:nvSpPr>
          <p:cNvPr id="11" name="TextBox 10"/>
          <p:cNvSpPr txBox="1"/>
          <p:nvPr/>
        </p:nvSpPr>
        <p:spPr>
          <a:xfrm>
            <a:off x="566928" y="3831336"/>
            <a:ext cx="2558719" cy="548640"/>
          </a:xfrm>
          <a:prstGeom prst="rect">
            <a:avLst/>
          </a:prstGeom>
          <a:noFill/>
        </p:spPr>
        <p:txBody>
          <a:bodyPr wrap="square" anchor="t" lIns="0" rIns="0" tIns="0" bIns="0">
            <a:spAutoFit/>
          </a:bodyPr>
          <a:lstStyle/>
          <a:p>
            <a:pPr algn="ctr">
              <a:lnSpc>
                <a:spcPct val="105000"/>
              </a:lnSpc>
              <a:spcBef>
                <a:spcPts val="0"/>
              </a:spcBef>
              <a:spcAft>
                <a:spcPts val="400"/>
              </a:spcAft>
            </a:pPr>
            <a:r>
              <a:rPr sz="950" b="0" i="0">
                <a:solidFill>
                  <a:srgbClr val="5B7A9D"/>
                </a:solidFill>
                <a:latin typeface="Arial"/>
              </a:rPr>
              <a:t>Thème du site, chrome PWA</a:t>
            </a:r>
          </a:p>
        </p:txBody>
      </p:sp>
      <p:sp>
        <p:nvSpPr>
          <p:cNvPr id="12" name="Rounded Rectangle 11"/>
          <p:cNvSpPr/>
          <p:nvPr/>
        </p:nvSpPr>
        <p:spPr>
          <a:xfrm>
            <a:off x="3399967" y="1865376"/>
            <a:ext cx="2558719" cy="1554480"/>
          </a:xfrm>
          <a:prstGeom prst="roundRect">
            <a:avLst>
              <a:gd name="adj" fmla="val 5000"/>
            </a:avLst>
          </a:prstGeom>
          <a:solidFill>
            <a:srgbClr val="1E3A5F"/>
          </a:solidFill>
          <a:ln w="635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4559" y="2962656"/>
            <a:ext cx="2229535"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FFFFFF"/>
                </a:solidFill>
                <a:latin typeface="Arial"/>
              </a:rPr>
              <a:t>#1E3A5F</a:t>
            </a:r>
          </a:p>
        </p:txBody>
      </p:sp>
      <p:sp>
        <p:nvSpPr>
          <p:cNvPr id="14" name="TextBox 13"/>
          <p:cNvSpPr txBox="1"/>
          <p:nvPr/>
        </p:nvSpPr>
        <p:spPr>
          <a:xfrm>
            <a:off x="3399967" y="3529584"/>
            <a:ext cx="2558719"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0F2742"/>
                </a:solidFill>
                <a:latin typeface="Arial"/>
              </a:rPr>
              <a:t>Navy éditorial</a:t>
            </a:r>
          </a:p>
        </p:txBody>
      </p:sp>
      <p:sp>
        <p:nvSpPr>
          <p:cNvPr id="15" name="TextBox 14"/>
          <p:cNvSpPr txBox="1"/>
          <p:nvPr/>
        </p:nvSpPr>
        <p:spPr>
          <a:xfrm>
            <a:off x="3399967" y="3831336"/>
            <a:ext cx="2558719" cy="548640"/>
          </a:xfrm>
          <a:prstGeom prst="rect">
            <a:avLst/>
          </a:prstGeom>
          <a:noFill/>
        </p:spPr>
        <p:txBody>
          <a:bodyPr wrap="square" anchor="t" lIns="0" rIns="0" tIns="0" bIns="0">
            <a:spAutoFit/>
          </a:bodyPr>
          <a:lstStyle/>
          <a:p>
            <a:pPr algn="ctr">
              <a:lnSpc>
                <a:spcPct val="105000"/>
              </a:lnSpc>
              <a:spcBef>
                <a:spcPts val="0"/>
              </a:spcBef>
              <a:spcAft>
                <a:spcPts val="400"/>
              </a:spcAft>
            </a:pPr>
            <a:r>
              <a:rPr sz="950" b="0" i="0">
                <a:solidFill>
                  <a:srgbClr val="5B7A9D"/>
                </a:solidFill>
                <a:latin typeface="Arial"/>
              </a:rPr>
              <a:t>Mots surlignés, barres, tags</a:t>
            </a:r>
          </a:p>
        </p:txBody>
      </p:sp>
      <p:sp>
        <p:nvSpPr>
          <p:cNvPr id="16" name="Rounded Rectangle 15"/>
          <p:cNvSpPr/>
          <p:nvPr/>
        </p:nvSpPr>
        <p:spPr>
          <a:xfrm>
            <a:off x="6233007" y="1865376"/>
            <a:ext cx="2558719" cy="1554480"/>
          </a:xfrm>
          <a:prstGeom prst="roundRect">
            <a:avLst>
              <a:gd name="adj" fmla="val 5000"/>
            </a:avLst>
          </a:prstGeom>
          <a:solidFill>
            <a:srgbClr val="B23A3A"/>
          </a:solidFill>
          <a:ln w="635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7599" y="2962656"/>
            <a:ext cx="2229535"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FFFFFF"/>
                </a:solidFill>
                <a:latin typeface="Arial"/>
              </a:rPr>
              <a:t>#B23A3A</a:t>
            </a:r>
          </a:p>
        </p:txBody>
      </p:sp>
      <p:sp>
        <p:nvSpPr>
          <p:cNvPr id="18" name="TextBox 17"/>
          <p:cNvSpPr txBox="1"/>
          <p:nvPr/>
        </p:nvSpPr>
        <p:spPr>
          <a:xfrm>
            <a:off x="6233007" y="3529584"/>
            <a:ext cx="2558719"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0F2742"/>
                </a:solidFill>
                <a:latin typeface="Arial"/>
              </a:rPr>
              <a:t>Rouge BREAKING</a:t>
            </a:r>
          </a:p>
        </p:txBody>
      </p:sp>
      <p:sp>
        <p:nvSpPr>
          <p:cNvPr id="19" name="TextBox 18"/>
          <p:cNvSpPr txBox="1"/>
          <p:nvPr/>
        </p:nvSpPr>
        <p:spPr>
          <a:xfrm>
            <a:off x="6233007" y="3831336"/>
            <a:ext cx="2558719" cy="548640"/>
          </a:xfrm>
          <a:prstGeom prst="rect">
            <a:avLst/>
          </a:prstGeom>
          <a:noFill/>
        </p:spPr>
        <p:txBody>
          <a:bodyPr wrap="square" anchor="t" lIns="0" rIns="0" tIns="0" bIns="0">
            <a:spAutoFit/>
          </a:bodyPr>
          <a:lstStyle/>
          <a:p>
            <a:pPr algn="ctr">
              <a:lnSpc>
                <a:spcPct val="105000"/>
              </a:lnSpc>
              <a:spcBef>
                <a:spcPts val="0"/>
              </a:spcBef>
              <a:spcAft>
                <a:spcPts val="400"/>
              </a:spcAft>
            </a:pPr>
            <a:r>
              <a:rPr sz="950" b="0" i="0">
                <a:solidFill>
                  <a:srgbClr val="5B7A9D"/>
                </a:solidFill>
                <a:latin typeface="Arial"/>
              </a:rPr>
              <a:t>Cartouche et mode alerte</a:t>
            </a:r>
          </a:p>
        </p:txBody>
      </p:sp>
      <p:sp>
        <p:nvSpPr>
          <p:cNvPr id="20" name="Rounded Rectangle 19"/>
          <p:cNvSpPr/>
          <p:nvPr/>
        </p:nvSpPr>
        <p:spPr>
          <a:xfrm>
            <a:off x="9066047" y="1865376"/>
            <a:ext cx="2558719" cy="1554480"/>
          </a:xfrm>
          <a:prstGeom prst="roundRect">
            <a:avLst>
              <a:gd name="adj" fmla="val 5000"/>
            </a:avLst>
          </a:prstGeom>
          <a:solidFill>
            <a:srgbClr val="C9A34E"/>
          </a:solidFill>
          <a:ln w="635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0639" y="2962656"/>
            <a:ext cx="2229535"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FFFFFF"/>
                </a:solidFill>
                <a:latin typeface="Arial"/>
              </a:rPr>
              <a:t>#C9A34E</a:t>
            </a:r>
          </a:p>
        </p:txBody>
      </p:sp>
      <p:sp>
        <p:nvSpPr>
          <p:cNvPr id="22" name="TextBox 21"/>
          <p:cNvSpPr txBox="1"/>
          <p:nvPr/>
        </p:nvSpPr>
        <p:spPr>
          <a:xfrm>
            <a:off x="9066047" y="3529584"/>
            <a:ext cx="2558719"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0F2742"/>
                </a:solidFill>
                <a:latin typeface="Arial"/>
              </a:rPr>
              <a:t>Or</a:t>
            </a:r>
          </a:p>
        </p:txBody>
      </p:sp>
      <p:sp>
        <p:nvSpPr>
          <p:cNvPr id="23" name="TextBox 22"/>
          <p:cNvSpPr txBox="1"/>
          <p:nvPr/>
        </p:nvSpPr>
        <p:spPr>
          <a:xfrm>
            <a:off x="9066047" y="3831336"/>
            <a:ext cx="2558719" cy="548640"/>
          </a:xfrm>
          <a:prstGeom prst="rect">
            <a:avLst/>
          </a:prstGeom>
          <a:noFill/>
        </p:spPr>
        <p:txBody>
          <a:bodyPr wrap="square" anchor="t" lIns="0" rIns="0" tIns="0" bIns="0">
            <a:spAutoFit/>
          </a:bodyPr>
          <a:lstStyle/>
          <a:p>
            <a:pPr algn="ctr">
              <a:lnSpc>
                <a:spcPct val="105000"/>
              </a:lnSpc>
              <a:spcBef>
                <a:spcPts val="0"/>
              </a:spcBef>
              <a:spcAft>
                <a:spcPts val="400"/>
              </a:spcAft>
            </a:pPr>
            <a:r>
              <a:rPr sz="950" b="0" i="0">
                <a:solidFill>
                  <a:srgbClr val="5B7A9D"/>
                </a:solidFill>
                <a:latin typeface="Arial"/>
              </a:rPr>
              <a:t>Mots de titre, accents</a:t>
            </a:r>
          </a:p>
        </p:txBody>
      </p:sp>
      <p:cxnSp>
        <p:nvCxnSpPr>
          <p:cNvPr id="24" name="Connector 23"/>
          <p:cNvCxnSpPr/>
          <p:nvPr/>
        </p:nvCxnSpPr>
        <p:spPr>
          <a:xfrm>
            <a:off x="566928" y="479145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4928616"/>
            <a:ext cx="5528919" cy="82296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742"/>
                </a:solidFill>
                <a:latin typeface="Playfair Display"/>
              </a:rPr>
              <a:t>Playfair Display</a:t>
            </a:r>
          </a:p>
          <a:p>
            <a:pPr algn="l">
              <a:lnSpc>
                <a:spcPct val="100000"/>
              </a:lnSpc>
              <a:spcBef>
                <a:spcPts val="0"/>
              </a:spcBef>
              <a:spcAft>
                <a:spcPts val="400"/>
              </a:spcAft>
            </a:pPr>
            <a:r>
              <a:rPr sz="1050" b="0" i="0">
                <a:solidFill>
                  <a:srgbClr val="5B7A9D"/>
                </a:solidFill>
                <a:latin typeface="Arial"/>
              </a:rPr>
              <a:t>Titres — empattements, ton presse premium</a:t>
            </a:r>
          </a:p>
        </p:txBody>
      </p:sp>
      <p:sp>
        <p:nvSpPr>
          <p:cNvPr id="26" name="TextBox 25"/>
          <p:cNvSpPr txBox="1"/>
          <p:nvPr/>
        </p:nvSpPr>
        <p:spPr>
          <a:xfrm>
            <a:off x="6095847" y="4928616"/>
            <a:ext cx="5528919" cy="82296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0F2742"/>
                </a:solidFill>
                <a:latin typeface="Arial"/>
              </a:rPr>
              <a:t>Arial / Sans-serif</a:t>
            </a:r>
          </a:p>
          <a:p>
            <a:pPr algn="l">
              <a:lnSpc>
                <a:spcPct val="100000"/>
              </a:lnSpc>
              <a:spcBef>
                <a:spcPts val="0"/>
              </a:spcBef>
              <a:spcAft>
                <a:spcPts val="400"/>
              </a:spcAft>
            </a:pPr>
            <a:r>
              <a:rPr sz="1050" b="0" i="0">
                <a:solidFill>
                  <a:srgbClr val="5B7A9D"/>
                </a:solidFill>
                <a:latin typeface="Arial"/>
              </a:rPr>
              <a:t>Corps, labels, chiffres, axes — lisibilité</a:t>
            </a:r>
          </a:p>
        </p:txBody>
      </p:sp>
      <p:cxnSp>
        <p:nvCxnSpPr>
          <p:cNvPr id="27" name="Connector 26"/>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9" name="TextBox 28"/>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Les forces de la plateforme</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ANALYSE DU SITE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66928"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58191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STRUCTURE</a:t>
            </a:r>
          </a:p>
        </p:txBody>
      </p:sp>
      <p:sp>
        <p:nvSpPr>
          <p:cNvPr id="10" name="TextBox 9"/>
          <p:cNvSpPr txBox="1"/>
          <p:nvPr/>
        </p:nvSpPr>
        <p:spPr>
          <a:xfrm>
            <a:off x="1170432"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CMS par schémas</a:t>
            </a:r>
          </a:p>
        </p:txBody>
      </p:sp>
      <p:sp>
        <p:nvSpPr>
          <p:cNvPr id="11" name="TextBox 10"/>
          <p:cNvSpPr txBox="1"/>
          <p:nvPr/>
        </p:nvSpPr>
        <p:spPr>
          <a:xfrm>
            <a:off x="768096"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Vitesse et cohérence : la mise en page manuelle disparaît, la cadence devient soutenable.</a:t>
            </a:r>
          </a:p>
        </p:txBody>
      </p:sp>
      <p:sp>
        <p:nvSpPr>
          <p:cNvPr id="12" name="Rounded Rectangle 11"/>
          <p:cNvSpPr/>
          <p:nvPr/>
        </p:nvSpPr>
        <p:spPr>
          <a:xfrm>
            <a:off x="4374794"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5962" y="158191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78298"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VALEUR</a:t>
            </a:r>
          </a:p>
        </p:txBody>
      </p:sp>
      <p:sp>
        <p:nvSpPr>
          <p:cNvPr id="15" name="TextBox 14"/>
          <p:cNvSpPr txBox="1"/>
          <p:nvPr/>
        </p:nvSpPr>
        <p:spPr>
          <a:xfrm>
            <a:off x="4978298"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Une vraie plateforme</a:t>
            </a:r>
          </a:p>
        </p:txBody>
      </p:sp>
      <p:sp>
        <p:nvSpPr>
          <p:cNvPr id="16" name="TextBox 15"/>
          <p:cNvSpPr txBox="1"/>
          <p:nvPr/>
        </p:nvSpPr>
        <p:spPr>
          <a:xfrm>
            <a:off x="4575962"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Glossaire, indicateurs, thématiques, formation : justifie le premium, crée du SEO, augmente la rétention.</a:t>
            </a:r>
          </a:p>
        </p:txBody>
      </p:sp>
      <p:sp>
        <p:nvSpPr>
          <p:cNvPr id="17" name="Rounded Rectangle 16"/>
          <p:cNvSpPr/>
          <p:nvPr/>
        </p:nvSpPr>
        <p:spPr>
          <a:xfrm>
            <a:off x="8182660"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83828" y="158191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86164"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MARQUE</a:t>
            </a:r>
          </a:p>
        </p:txBody>
      </p:sp>
      <p:sp>
        <p:nvSpPr>
          <p:cNvPr id="20" name="TextBox 19"/>
          <p:cNvSpPr txBox="1"/>
          <p:nvPr/>
        </p:nvSpPr>
        <p:spPr>
          <a:xfrm>
            <a:off x="8786164"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Identité &amp; discipline</a:t>
            </a:r>
          </a:p>
        </p:txBody>
      </p:sp>
      <p:sp>
        <p:nvSpPr>
          <p:cNvPr id="21" name="TextBox 20"/>
          <p:cNvSpPr txBox="1"/>
          <p:nvPr/>
        </p:nvSpPr>
        <p:spPr>
          <a:xfrm>
            <a:off x="8383828"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Charte systématisée, double sourcing, datation, zéro donnée inventée : la fiabilité est un actif.</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Faiblesses &amp; chantiers prioritaires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ANALYSE DU SITE</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Les chantiers ne touchent pas à la vision, solide, mais à la robustesse opérationnelle.</a:t>
            </a:r>
          </a:p>
        </p:txBody>
      </p:sp>
      <p:sp>
        <p:nvSpPr>
          <p:cNvPr id="8" name="Rounded Rectangle 7"/>
          <p:cNvSpPr/>
          <p:nvPr/>
        </p:nvSpPr>
        <p:spPr>
          <a:xfrm>
            <a:off x="566928" y="1728216"/>
            <a:ext cx="5300319" cy="4261104"/>
          </a:xfrm>
          <a:prstGeom prst="roundRect">
            <a:avLst>
              <a:gd name="adj" fmla="val 4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28216"/>
            <a:ext cx="5300319" cy="566928"/>
          </a:xfrm>
          <a:prstGeom prst="roundRect">
            <a:avLst>
              <a:gd name="adj" fmla="val 4000"/>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975104"/>
            <a:ext cx="5300319" cy="320040"/>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728216"/>
            <a:ext cx="4843119" cy="566928"/>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FFFFFF"/>
                </a:solidFill>
                <a:latin typeface="Arial"/>
              </a:rPr>
              <a:t>RISQUES OPÉRATIONNELS</a:t>
            </a:r>
          </a:p>
        </p:txBody>
      </p:sp>
      <p:sp>
        <p:nvSpPr>
          <p:cNvPr id="12" name="TextBox 11"/>
          <p:cNvSpPr txBox="1"/>
          <p:nvPr/>
        </p:nvSpPr>
        <p:spPr>
          <a:xfrm>
            <a:off x="795528" y="2459736"/>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a:t>
            </a:r>
          </a:p>
        </p:txBody>
      </p:sp>
      <p:sp>
        <p:nvSpPr>
          <p:cNvPr id="13" name="TextBox 12"/>
          <p:cNvSpPr txBox="1"/>
          <p:nvPr/>
        </p:nvSpPr>
        <p:spPr>
          <a:xfrm>
            <a:off x="1069848" y="2459736"/>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Copier-coller manuel : un JSON malformé peut casser le rendu.</a:t>
            </a:r>
          </a:p>
        </p:txBody>
      </p:sp>
      <p:sp>
        <p:nvSpPr>
          <p:cNvPr id="14" name="TextBox 13"/>
          <p:cNvSpPr txBox="1"/>
          <p:nvPr/>
        </p:nvSpPr>
        <p:spPr>
          <a:xfrm>
            <a:off x="795528" y="2990088"/>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a:t>
            </a:r>
          </a:p>
        </p:txBody>
      </p:sp>
      <p:sp>
        <p:nvSpPr>
          <p:cNvPr id="15" name="TextBox 14"/>
          <p:cNvSpPr txBox="1"/>
          <p:nvPr/>
        </p:nvSpPr>
        <p:spPr>
          <a:xfrm>
            <a:off x="1069848" y="2990088"/>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Rendu côté client : risque d'indexation SEO du contenu de référence.</a:t>
            </a:r>
          </a:p>
        </p:txBody>
      </p:sp>
      <p:sp>
        <p:nvSpPr>
          <p:cNvPr id="16" name="TextBox 15"/>
          <p:cNvSpPr txBox="1"/>
          <p:nvPr/>
        </p:nvSpPr>
        <p:spPr>
          <a:xfrm>
            <a:off x="795528" y="3520440"/>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a:t>
            </a:r>
          </a:p>
        </p:txBody>
      </p:sp>
      <p:sp>
        <p:nvSpPr>
          <p:cNvPr id="17" name="TextBox 16"/>
          <p:cNvSpPr txBox="1"/>
          <p:nvPr/>
        </p:nvSpPr>
        <p:spPr>
          <a:xfrm>
            <a:off x="1069848" y="3520440"/>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Source de données unique (Finnhub) : exposition aux écarts de prix.</a:t>
            </a:r>
          </a:p>
        </p:txBody>
      </p:sp>
      <p:sp>
        <p:nvSpPr>
          <p:cNvPr id="18" name="TextBox 17"/>
          <p:cNvSpPr txBox="1"/>
          <p:nvPr/>
        </p:nvSpPr>
        <p:spPr>
          <a:xfrm>
            <a:off x="795528" y="4050792"/>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23A3A"/>
                </a:solidFill>
                <a:latin typeface="Arial"/>
              </a:rPr>
              <a:t>—</a:t>
            </a:r>
          </a:p>
        </p:txBody>
      </p:sp>
      <p:sp>
        <p:nvSpPr>
          <p:cNvPr id="19" name="TextBox 18"/>
          <p:cNvSpPr txBox="1"/>
          <p:nvPr/>
        </p:nvSpPr>
        <p:spPr>
          <a:xfrm>
            <a:off x="1069848" y="4050792"/>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Dépendance au fondateur et au pipeline ; observabilité limitée.</a:t>
            </a:r>
          </a:p>
        </p:txBody>
      </p:sp>
      <p:sp>
        <p:nvSpPr>
          <p:cNvPr id="20" name="Rounded Rectangle 19"/>
          <p:cNvSpPr/>
          <p:nvPr/>
        </p:nvSpPr>
        <p:spPr>
          <a:xfrm>
            <a:off x="6324447" y="1728216"/>
            <a:ext cx="5300319" cy="4261104"/>
          </a:xfrm>
          <a:prstGeom prst="roundRect">
            <a:avLst>
              <a:gd name="adj" fmla="val 40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447" y="1728216"/>
            <a:ext cx="5300319" cy="566928"/>
          </a:xfrm>
          <a:prstGeom prst="roundRect">
            <a:avLst>
              <a:gd name="adj" fmla="val 4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24447" y="1975104"/>
            <a:ext cx="5300319" cy="32004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3047" y="1728216"/>
            <a:ext cx="4843119" cy="566928"/>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FFFFFF"/>
                </a:solidFill>
                <a:latin typeface="Arial"/>
              </a:rPr>
              <a:t>RECOMMANDATIONS</a:t>
            </a:r>
          </a:p>
        </p:txBody>
      </p:sp>
      <p:sp>
        <p:nvSpPr>
          <p:cNvPr id="24" name="TextBox 23"/>
          <p:cNvSpPr txBox="1"/>
          <p:nvPr/>
        </p:nvSpPr>
        <p:spPr>
          <a:xfrm>
            <a:off x="6553047" y="2459736"/>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a:t>
            </a:r>
          </a:p>
        </p:txBody>
      </p:sp>
      <p:sp>
        <p:nvSpPr>
          <p:cNvPr id="25" name="TextBox 24"/>
          <p:cNvSpPr txBox="1"/>
          <p:nvPr/>
        </p:nvSpPr>
        <p:spPr>
          <a:xfrm>
            <a:off x="6827367" y="2459736"/>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Validateur de schéma à la publication (champs, types, zéro astérisque).</a:t>
            </a:r>
          </a:p>
        </p:txBody>
      </p:sp>
      <p:sp>
        <p:nvSpPr>
          <p:cNvPr id="26" name="TextBox 25"/>
          <p:cNvSpPr txBox="1"/>
          <p:nvPr/>
        </p:nvSpPr>
        <p:spPr>
          <a:xfrm>
            <a:off x="6553047" y="2990088"/>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a:t>
            </a:r>
          </a:p>
        </p:txBody>
      </p:sp>
      <p:sp>
        <p:nvSpPr>
          <p:cNvPr id="27" name="TextBox 26"/>
          <p:cNvSpPr txBox="1"/>
          <p:nvPr/>
        </p:nvSpPr>
        <p:spPr>
          <a:xfrm>
            <a:off x="6827367" y="2990088"/>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Sécuriser le SEO (rendu serveur ou pré-rendu des pages de référence).</a:t>
            </a:r>
          </a:p>
        </p:txBody>
      </p:sp>
      <p:sp>
        <p:nvSpPr>
          <p:cNvPr id="28" name="TextBox 27"/>
          <p:cNvSpPr txBox="1"/>
          <p:nvPr/>
        </p:nvSpPr>
        <p:spPr>
          <a:xfrm>
            <a:off x="6553047" y="3520440"/>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a:t>
            </a:r>
          </a:p>
        </p:txBody>
      </p:sp>
      <p:sp>
        <p:nvSpPr>
          <p:cNvPr id="29" name="TextBox 28"/>
          <p:cNvSpPr txBox="1"/>
          <p:nvPr/>
        </p:nvSpPr>
        <p:spPr>
          <a:xfrm>
            <a:off x="6827367" y="3520440"/>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Double source pour les prix critiques, source de référence explicite.</a:t>
            </a:r>
          </a:p>
        </p:txBody>
      </p:sp>
      <p:sp>
        <p:nvSpPr>
          <p:cNvPr id="30" name="TextBox 29"/>
          <p:cNvSpPr txBox="1"/>
          <p:nvPr/>
        </p:nvSpPr>
        <p:spPr>
          <a:xfrm>
            <a:off x="6553047" y="4050792"/>
            <a:ext cx="274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E7D5B"/>
                </a:solidFill>
                <a:latin typeface="Arial"/>
              </a:rPr>
              <a:t>—</a:t>
            </a:r>
          </a:p>
        </p:txBody>
      </p:sp>
      <p:sp>
        <p:nvSpPr>
          <p:cNvPr id="31" name="TextBox 30"/>
          <p:cNvSpPr txBox="1"/>
          <p:nvPr/>
        </p:nvSpPr>
        <p:spPr>
          <a:xfrm>
            <a:off x="6827367" y="4050792"/>
            <a:ext cx="4568799" cy="64008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Tableau de bord d'analytics relié aux KPIs ; dunning Stripe et offre annuelle.</a:t>
            </a:r>
          </a:p>
        </p:txBody>
      </p:sp>
      <p:cxnSp>
        <p:nvCxnSpPr>
          <p:cNvPr id="32" name="Connector 3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34" name="TextBox 3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03120"/>
            <a:ext cx="2743200" cy="2011680"/>
          </a:xfrm>
          <a:prstGeom prst="rect">
            <a:avLst/>
          </a:prstGeom>
          <a:noFill/>
        </p:spPr>
        <p:txBody>
          <a:bodyPr wrap="square" anchor="ctr" lIns="0" rIns="0" tIns="0" bIns="0">
            <a:spAutoFit/>
          </a:bodyPr>
          <a:lstStyle/>
          <a:p>
            <a:pPr algn="l">
              <a:lnSpc>
                <a:spcPct val="100000"/>
              </a:lnSpc>
              <a:spcBef>
                <a:spcPts val="0"/>
              </a:spcBef>
              <a:spcAft>
                <a:spcPts val="400"/>
              </a:spcAft>
            </a:pPr>
            <a:r>
              <a:rPr sz="12000" b="1" i="0">
                <a:solidFill>
                  <a:srgbClr val="1B3A5C"/>
                </a:solidFill>
                <a:latin typeface="Playfair Display"/>
              </a:rPr>
              <a:t>6</a:t>
            </a:r>
          </a:p>
        </p:txBody>
      </p:sp>
      <p:sp>
        <p:nvSpPr>
          <p:cNvPr id="4" name="Rectangle 3"/>
          <p:cNvSpPr/>
          <p:nvPr/>
        </p:nvSpPr>
        <p:spPr>
          <a:xfrm>
            <a:off x="566928" y="3977639"/>
            <a:ext cx="548640" cy="82296"/>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206240"/>
            <a:ext cx="11057839"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7F7F4"/>
                </a:solidFill>
                <a:latin typeface="Playfair Display"/>
              </a:rPr>
              <a:t>Finances &amp; risques</a:t>
            </a:r>
          </a:p>
        </p:txBody>
      </p:sp>
      <p:sp>
        <p:nvSpPr>
          <p:cNvPr id="6" name="TextBox 5"/>
          <p:cNvSpPr txBox="1"/>
          <p:nvPr/>
        </p:nvSpPr>
        <p:spPr>
          <a:xfrm>
            <a:off x="566928" y="5074920"/>
            <a:ext cx="9686239" cy="731520"/>
          </a:xfrm>
          <a:prstGeom prst="rect">
            <a:avLst/>
          </a:prstGeom>
          <a:noFill/>
        </p:spPr>
        <p:txBody>
          <a:bodyPr wrap="square" anchor="t" lIns="0" rIns="0" tIns="0" bIns="0">
            <a:spAutoFit/>
          </a:bodyPr>
          <a:lstStyle/>
          <a:p>
            <a:pPr algn="l">
              <a:lnSpc>
                <a:spcPct val="120000"/>
              </a:lnSpc>
              <a:spcBef>
                <a:spcPts val="0"/>
              </a:spcBef>
              <a:spcAft>
                <a:spcPts val="400"/>
              </a:spcAft>
            </a:pPr>
            <a:r>
              <a:rPr sz="1500" b="0" i="1">
                <a:solidFill>
                  <a:srgbClr val="9DB2C9"/>
                </a:solidFill>
                <a:latin typeface="Arial"/>
              </a:rPr>
              <a:t>Une trajectoire modélisée, des scénarios explicites, une discipline du risque.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Conformité &amp; cadre éditorial</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362456"/>
            <a:ext cx="6634703" cy="4809744"/>
          </a:xfrm>
          <a:prstGeom prst="rect">
            <a:avLst/>
          </a:prstGeom>
          <a:noFill/>
        </p:spPr>
        <p:txBody>
          <a:bodyPr wrap="square" anchor="t" lIns="0" rIns="0" tIns="0" bIns="0">
            <a:spAutoFit/>
          </a:bodyPr>
          <a:lstStyle/>
          <a:p>
            <a:pPr algn="l">
              <a:lnSpc>
                <a:spcPct val="118000"/>
              </a:lnSpc>
              <a:spcBef>
                <a:spcPts val="0"/>
              </a:spcBef>
              <a:spcAft>
                <a:spcPts val="1000"/>
              </a:spcAft>
            </a:pPr>
            <a:r>
              <a:rPr sz="1200" b="0" i="0">
                <a:solidFill>
                  <a:srgbClr val="1A1A1A"/>
                </a:solidFill>
                <a:latin typeface="Arial"/>
              </a:rPr>
              <a:t>La règle fondatrice de WMB est aussi sa protection juridique : informatif et éducatif uniquement.</a:t>
            </a:r>
          </a:p>
          <a:p>
            <a:pPr algn="l">
              <a:lnSpc>
                <a:spcPct val="118000"/>
              </a:lnSpc>
              <a:spcBef>
                <a:spcPts val="0"/>
              </a:spcBef>
              <a:spcAft>
                <a:spcPts val="1000"/>
              </a:spcAft>
            </a:pPr>
            <a:r>
              <a:rPr sz="1200" b="0" i="0">
                <a:solidFill>
                  <a:srgbClr val="1A1A1A"/>
                </a:solidFill>
                <a:latin typeface="Arial"/>
              </a:rPr>
              <a:t>Jamais de conseil en investissement. Jamais de recommandation d'achat ou de vente. Jamais d'objectif de prix ni de signal de trading. Jamais de promesse de performance.</a:t>
            </a:r>
          </a:p>
          <a:p>
            <a:pPr algn="l">
              <a:lnSpc>
                <a:spcPct val="118000"/>
              </a:lnSpc>
              <a:spcBef>
                <a:spcPts val="0"/>
              </a:spcBef>
              <a:spcAft>
                <a:spcPts val="1000"/>
              </a:spcAft>
            </a:pPr>
            <a:r>
              <a:rPr sz="1200" b="0" i="0">
                <a:solidFill>
                  <a:srgbClr val="1A1A1A"/>
                </a:solidFill>
                <a:latin typeface="Arial"/>
              </a:rPr>
              <a:t>WMB livre du contexte, des faits, des chiffres sourcés et des scénarios conditionnels (SI / ALORS / SINON). Un disclaimer figure dans chaque édition, chaque e-mail et chaque thème.</a:t>
            </a:r>
          </a:p>
          <a:p>
            <a:pPr algn="l">
              <a:lnSpc>
                <a:spcPct val="118000"/>
              </a:lnSpc>
              <a:spcBef>
                <a:spcPts val="0"/>
              </a:spcBef>
              <a:spcAft>
                <a:spcPts val="1000"/>
              </a:spcAft>
            </a:pPr>
            <a:r>
              <a:rPr sz="1200" b="0" i="0">
                <a:solidFill>
                  <a:srgbClr val="1A1A1A"/>
                </a:solidFill>
                <a:latin typeface="Arial"/>
              </a:rPr>
              <a:t>Compte tenu du cadre suisse, une validation juridique formelle des mentions et du périmètre éditorial est recommandée avant toute montée en échelle.</a:t>
            </a:r>
          </a:p>
        </p:txBody>
      </p:sp>
      <p:sp>
        <p:nvSpPr>
          <p:cNvPr id="8" name="Rectangle 7"/>
          <p:cNvSpPr/>
          <p:nvPr/>
        </p:nvSpPr>
        <p:spPr>
          <a:xfrm>
            <a:off x="7658831" y="1499616"/>
            <a:ext cx="91440" cy="173736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14863" y="1453896"/>
            <a:ext cx="3709903" cy="2194560"/>
          </a:xfrm>
          <a:prstGeom prst="rect">
            <a:avLst/>
          </a:prstGeom>
          <a:noFill/>
        </p:spPr>
        <p:txBody>
          <a:bodyPr wrap="square" anchor="t" lIns="0" rIns="0" tIns="0" bIns="0">
            <a:spAutoFit/>
          </a:bodyPr>
          <a:lstStyle/>
          <a:p>
            <a:pPr algn="l">
              <a:lnSpc>
                <a:spcPct val="120000"/>
              </a:lnSpc>
              <a:spcBef>
                <a:spcPts val="0"/>
              </a:spcBef>
              <a:spcAft>
                <a:spcPts val="400"/>
              </a:spcAft>
            </a:pPr>
            <a:r>
              <a:rPr sz="1900" b="0" i="1">
                <a:solidFill>
                  <a:srgbClr val="0F2742"/>
                </a:solidFill>
                <a:latin typeface="Playfair Display"/>
              </a:rPr>
              <a:t>Informatif et éducatif uniquement — jamais de conseil.</a:t>
            </a:r>
          </a:p>
        </p:txBody>
      </p:sp>
      <p:cxnSp>
        <p:nvCxnSpPr>
          <p:cNvPr id="10" name="Connector 9"/>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2" name="TextBox 11"/>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Équipe &amp; organisation</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66928"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581912"/>
            <a:ext cx="274320" cy="27432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AUJOURD'HUI</a:t>
            </a:r>
          </a:p>
        </p:txBody>
      </p:sp>
      <p:sp>
        <p:nvSpPr>
          <p:cNvPr id="10" name="TextBox 9"/>
          <p:cNvSpPr txBox="1"/>
          <p:nvPr/>
        </p:nvSpPr>
        <p:spPr>
          <a:xfrm>
            <a:off x="1170432"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Fondateur &amp; pipeline</a:t>
            </a:r>
          </a:p>
        </p:txBody>
      </p:sp>
      <p:sp>
        <p:nvSpPr>
          <p:cNvPr id="11" name="TextBox 10"/>
          <p:cNvSpPr txBox="1"/>
          <p:nvPr/>
        </p:nvSpPr>
        <p:spPr>
          <a:xfrm>
            <a:off x="768096"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Un fondateur-rédacteur en chef ; le pipeline IA démultiplie une structure très légère.</a:t>
            </a:r>
          </a:p>
        </p:txBody>
      </p:sp>
      <p:sp>
        <p:nvSpPr>
          <p:cNvPr id="12" name="Rounded Rectangle 11"/>
          <p:cNvSpPr/>
          <p:nvPr/>
        </p:nvSpPr>
        <p:spPr>
          <a:xfrm>
            <a:off x="4374794"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5962" y="158191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78298"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DEMAIN</a:t>
            </a:r>
          </a:p>
        </p:txBody>
      </p:sp>
      <p:sp>
        <p:nvSpPr>
          <p:cNvPr id="15" name="TextBox 14"/>
          <p:cNvSpPr txBox="1"/>
          <p:nvPr/>
        </p:nvSpPr>
        <p:spPr>
          <a:xfrm>
            <a:off x="4978298"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Recrutements clés</a:t>
            </a:r>
          </a:p>
        </p:txBody>
      </p:sp>
      <p:sp>
        <p:nvSpPr>
          <p:cNvPr id="16" name="TextBox 15"/>
          <p:cNvSpPr txBox="1"/>
          <p:nvPr/>
        </p:nvSpPr>
        <p:spPr>
          <a:xfrm>
            <a:off x="4575962"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Acquisition/growth, développement, éditorial, design/social — à mesure que le revenu se consolide.</a:t>
            </a:r>
          </a:p>
        </p:txBody>
      </p:sp>
      <p:sp>
        <p:nvSpPr>
          <p:cNvPr id="17" name="Rounded Rectangle 16"/>
          <p:cNvSpPr/>
          <p:nvPr/>
        </p:nvSpPr>
        <p:spPr>
          <a:xfrm>
            <a:off x="8182660" y="1362456"/>
            <a:ext cx="3442106" cy="462686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83828" y="1581912"/>
            <a:ext cx="274320" cy="2743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86164" y="156362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PHILOSOPHIE</a:t>
            </a:r>
          </a:p>
        </p:txBody>
      </p:sp>
      <p:sp>
        <p:nvSpPr>
          <p:cNvPr id="20" name="TextBox 19"/>
          <p:cNvSpPr txBox="1"/>
          <p:nvPr/>
        </p:nvSpPr>
        <p:spPr>
          <a:xfrm>
            <a:off x="8786164" y="180136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Équipe resserrée</a:t>
            </a:r>
          </a:p>
        </p:txBody>
      </p:sp>
      <p:sp>
        <p:nvSpPr>
          <p:cNvPr id="21" name="TextBox 20"/>
          <p:cNvSpPr txBox="1"/>
          <p:nvPr/>
        </p:nvSpPr>
        <p:spPr>
          <a:xfrm>
            <a:off x="8383828" y="2221992"/>
            <a:ext cx="3039770" cy="356616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Forte automatisation : la marge dégagée finance la croissance, pas une structure lourde.</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29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Trajectoire à 3 ans — scénario de base</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Projections illustratives fondées sur des hypothèses explicites — non une garantie de résultat.</a:t>
            </a:r>
          </a:p>
        </p:txBody>
      </p:sp>
      <p:graphicFrame>
        <p:nvGraphicFramePr>
          <p:cNvPr id="8" name="Table 7"/>
          <p:cNvGraphicFramePr>
            <a:graphicFrameLocks noGrp="1"/>
          </p:cNvGraphicFramePr>
          <p:nvPr/>
        </p:nvGraphicFramePr>
        <p:xfrm>
          <a:off x="566928" y="1728216"/>
          <a:ext cx="11057836" cy="2852928"/>
        </p:xfrm>
        <a:graphic>
          <a:graphicData uri="http://schemas.openxmlformats.org/drawingml/2006/table">
            <a:tbl>
              <a:tblPr>
                <a:tableStyleId>{5C22544A-7EE6-4342-B048-85BDC9FD1C3A}</a:tableStyleId>
              </a:tblPr>
              <a:tblGrid>
                <a:gridCol w="4423135"/>
                <a:gridCol w="2211567"/>
                <a:gridCol w="2211567"/>
                <a:gridCol w="2211567"/>
              </a:tblGrid>
              <a:tr h="475488">
                <a:tc>
                  <a:txBody>
                    <a:bodyPr/>
                    <a:lstStyle/>
                    <a:p>
                      <a:pPr algn="l"/>
                      <a:r>
                        <a:rPr sz="1100" b="1">
                          <a:solidFill>
                            <a:srgbClr val="F7F7F4"/>
                          </a:solidFill>
                          <a:latin typeface="Arial"/>
                        </a:rPr>
                        <a:t>Indicateur</a:t>
                      </a:r>
                    </a:p>
                  </a:txBody>
                  <a:tcPr anchor="ctr" marL="91440" marR="91440" marT="36576" marB="36576">
                    <a:solidFill>
                      <a:srgbClr val="0F2742"/>
                    </a:solidFill>
                  </a:tcPr>
                </a:tc>
                <a:tc>
                  <a:txBody>
                    <a:bodyPr/>
                    <a:lstStyle/>
                    <a:p>
                      <a:pPr algn="r"/>
                      <a:r>
                        <a:rPr sz="1100" b="1">
                          <a:solidFill>
                            <a:srgbClr val="F7F7F4"/>
                          </a:solidFill>
                          <a:latin typeface="Arial"/>
                        </a:rPr>
                        <a:t>Fin année 1</a:t>
                      </a:r>
                    </a:p>
                  </a:txBody>
                  <a:tcPr anchor="ctr" marL="91440" marR="91440" marT="36576" marB="36576">
                    <a:solidFill>
                      <a:srgbClr val="0F2742"/>
                    </a:solidFill>
                  </a:tcPr>
                </a:tc>
                <a:tc>
                  <a:txBody>
                    <a:bodyPr/>
                    <a:lstStyle/>
                    <a:p>
                      <a:pPr algn="r"/>
                      <a:r>
                        <a:rPr sz="1100" b="1">
                          <a:solidFill>
                            <a:srgbClr val="F7F7F4"/>
                          </a:solidFill>
                          <a:latin typeface="Arial"/>
                        </a:rPr>
                        <a:t>Fin année 2</a:t>
                      </a:r>
                    </a:p>
                  </a:txBody>
                  <a:tcPr anchor="ctr" marL="91440" marR="91440" marT="36576" marB="36576">
                    <a:solidFill>
                      <a:srgbClr val="0F2742"/>
                    </a:solidFill>
                  </a:tcPr>
                </a:tc>
                <a:tc>
                  <a:txBody>
                    <a:bodyPr/>
                    <a:lstStyle/>
                    <a:p>
                      <a:pPr algn="r"/>
                      <a:r>
                        <a:rPr sz="1100" b="1">
                          <a:solidFill>
                            <a:srgbClr val="F7F7F4"/>
                          </a:solidFill>
                          <a:latin typeface="Arial"/>
                        </a:rPr>
                        <a:t>Fin année 3</a:t>
                      </a:r>
                    </a:p>
                  </a:txBody>
                  <a:tcPr anchor="ctr" marL="91440" marR="91440" marT="36576" marB="36576">
                    <a:solidFill>
                      <a:srgbClr val="0F2742"/>
                    </a:solidFill>
                  </a:tcPr>
                </a:tc>
              </a:tr>
              <a:tr h="475488">
                <a:tc>
                  <a:txBody>
                    <a:bodyPr/>
                    <a:lstStyle/>
                    <a:p>
                      <a:pPr algn="l"/>
                      <a:r>
                        <a:rPr sz="1050" b="1">
                          <a:solidFill>
                            <a:srgbClr val="0F2742"/>
                          </a:solidFill>
                          <a:latin typeface="Arial"/>
                        </a:rPr>
                        <a:t>Audience gratuite (liste)</a:t>
                      </a:r>
                    </a:p>
                  </a:txBody>
                  <a:tcPr anchor="ctr" marL="91440" marR="91440" marT="27432" marB="27432">
                    <a:solidFill>
                      <a:srgbClr val="FFFFFF"/>
                    </a:solidFill>
                  </a:tcPr>
                </a:tc>
                <a:tc>
                  <a:txBody>
                    <a:bodyPr/>
                    <a:lstStyle/>
                    <a:p>
                      <a:pPr algn="r"/>
                      <a:r>
                        <a:rPr sz="1050" b="0">
                          <a:solidFill>
                            <a:srgbClr val="1A1A1A"/>
                          </a:solidFill>
                          <a:latin typeface="Arial"/>
                        </a:rPr>
                        <a:t>≈ 8 000</a:t>
                      </a:r>
                    </a:p>
                  </a:txBody>
                  <a:tcPr anchor="ctr" marL="91440" marR="91440" marT="27432" marB="27432">
                    <a:solidFill>
                      <a:srgbClr val="FFFFFF"/>
                    </a:solidFill>
                  </a:tcPr>
                </a:tc>
                <a:tc>
                  <a:txBody>
                    <a:bodyPr/>
                    <a:lstStyle/>
                    <a:p>
                      <a:pPr algn="r"/>
                      <a:r>
                        <a:rPr sz="1050" b="0">
                          <a:solidFill>
                            <a:srgbClr val="1A1A1A"/>
                          </a:solidFill>
                          <a:latin typeface="Arial"/>
                        </a:rPr>
                        <a:t>≈ 25 000</a:t>
                      </a:r>
                    </a:p>
                  </a:txBody>
                  <a:tcPr anchor="ctr" marL="91440" marR="91440" marT="27432" marB="27432">
                    <a:solidFill>
                      <a:srgbClr val="FFFFFF"/>
                    </a:solidFill>
                  </a:tcPr>
                </a:tc>
                <a:tc>
                  <a:txBody>
                    <a:bodyPr/>
                    <a:lstStyle/>
                    <a:p>
                      <a:pPr algn="r"/>
                      <a:r>
                        <a:rPr sz="1050" b="0">
                          <a:solidFill>
                            <a:srgbClr val="1A1A1A"/>
                          </a:solidFill>
                          <a:latin typeface="Arial"/>
                        </a:rPr>
                        <a:t>≈ 50 000</a:t>
                      </a:r>
                    </a:p>
                  </a:txBody>
                  <a:tcPr anchor="ctr" marL="91440" marR="91440" marT="27432" marB="27432">
                    <a:solidFill>
                      <a:srgbClr val="FFFFFF"/>
                    </a:solidFill>
                  </a:tcPr>
                </a:tc>
              </a:tr>
              <a:tr h="475488">
                <a:tc>
                  <a:txBody>
                    <a:bodyPr/>
                    <a:lstStyle/>
                    <a:p>
                      <a:pPr algn="l"/>
                      <a:r>
                        <a:rPr sz="1050" b="1">
                          <a:solidFill>
                            <a:srgbClr val="0F2742"/>
                          </a:solidFill>
                          <a:latin typeface="Arial"/>
                        </a:rPr>
                        <a:t>Abonnés payants</a:t>
                      </a:r>
                    </a:p>
                  </a:txBody>
                  <a:tcPr anchor="ctr" marL="91440" marR="91440" marT="27432" marB="27432">
                    <a:solidFill>
                      <a:srgbClr val="F5F6F8"/>
                    </a:solidFill>
                  </a:tcPr>
                </a:tc>
                <a:tc>
                  <a:txBody>
                    <a:bodyPr/>
                    <a:lstStyle/>
                    <a:p>
                      <a:pPr algn="r"/>
                      <a:r>
                        <a:rPr sz="1050" b="0">
                          <a:solidFill>
                            <a:srgbClr val="1A1A1A"/>
                          </a:solidFill>
                          <a:latin typeface="Arial"/>
                        </a:rPr>
                        <a:t>≈ 300</a:t>
                      </a:r>
                    </a:p>
                  </a:txBody>
                  <a:tcPr anchor="ctr" marL="91440" marR="91440" marT="27432" marB="27432">
                    <a:solidFill>
                      <a:srgbClr val="F5F6F8"/>
                    </a:solidFill>
                  </a:tcPr>
                </a:tc>
                <a:tc>
                  <a:txBody>
                    <a:bodyPr/>
                    <a:lstStyle/>
                    <a:p>
                      <a:pPr algn="r"/>
                      <a:r>
                        <a:rPr sz="1050" b="0">
                          <a:solidFill>
                            <a:srgbClr val="1A1A1A"/>
                          </a:solidFill>
                          <a:latin typeface="Arial"/>
                        </a:rPr>
                        <a:t>≈ 1 200</a:t>
                      </a:r>
                    </a:p>
                  </a:txBody>
                  <a:tcPr anchor="ctr" marL="91440" marR="91440" marT="27432" marB="27432">
                    <a:solidFill>
                      <a:srgbClr val="F5F6F8"/>
                    </a:solidFill>
                  </a:tcPr>
                </a:tc>
                <a:tc>
                  <a:txBody>
                    <a:bodyPr/>
                    <a:lstStyle/>
                    <a:p>
                      <a:pPr algn="r"/>
                      <a:r>
                        <a:rPr sz="1050" b="0">
                          <a:solidFill>
                            <a:srgbClr val="1A1A1A"/>
                          </a:solidFill>
                          <a:latin typeface="Arial"/>
                        </a:rPr>
                        <a:t>≈ 3 000</a:t>
                      </a:r>
                    </a:p>
                  </a:txBody>
                  <a:tcPr anchor="ctr" marL="91440" marR="91440" marT="27432" marB="27432">
                    <a:solidFill>
                      <a:srgbClr val="F5F6F8"/>
                    </a:solidFill>
                  </a:tcPr>
                </a:tc>
              </a:tr>
              <a:tr h="475488">
                <a:tc>
                  <a:txBody>
                    <a:bodyPr/>
                    <a:lstStyle/>
                    <a:p>
                      <a:pPr algn="l"/>
                      <a:r>
                        <a:rPr sz="1050" b="1">
                          <a:solidFill>
                            <a:srgbClr val="0F2742"/>
                          </a:solidFill>
                          <a:latin typeface="Arial"/>
                        </a:rPr>
                        <a:t>Revenu mensuel récurrent (MRR)</a:t>
                      </a:r>
                    </a:p>
                  </a:txBody>
                  <a:tcPr anchor="ctr" marL="91440" marR="91440" marT="27432" marB="27432">
                    <a:solidFill>
                      <a:srgbClr val="FFFFFF"/>
                    </a:solidFill>
                  </a:tcPr>
                </a:tc>
                <a:tc>
                  <a:txBody>
                    <a:bodyPr/>
                    <a:lstStyle/>
                    <a:p>
                      <a:pPr algn="r"/>
                      <a:r>
                        <a:rPr sz="1050" b="0">
                          <a:solidFill>
                            <a:srgbClr val="1A1A1A"/>
                          </a:solidFill>
                          <a:latin typeface="Arial"/>
                        </a:rPr>
                        <a:t>≈ 14 700 CHF</a:t>
                      </a:r>
                    </a:p>
                  </a:txBody>
                  <a:tcPr anchor="ctr" marL="91440" marR="91440" marT="27432" marB="27432">
                    <a:solidFill>
                      <a:srgbClr val="FFFFFF"/>
                    </a:solidFill>
                  </a:tcPr>
                </a:tc>
                <a:tc>
                  <a:txBody>
                    <a:bodyPr/>
                    <a:lstStyle/>
                    <a:p>
                      <a:pPr algn="r"/>
                      <a:r>
                        <a:rPr sz="1050" b="0">
                          <a:solidFill>
                            <a:srgbClr val="1A1A1A"/>
                          </a:solidFill>
                          <a:latin typeface="Arial"/>
                        </a:rPr>
                        <a:t>≈ 58 800 CHF</a:t>
                      </a:r>
                    </a:p>
                  </a:txBody>
                  <a:tcPr anchor="ctr" marL="91440" marR="91440" marT="27432" marB="27432">
                    <a:solidFill>
                      <a:srgbClr val="FFFFFF"/>
                    </a:solidFill>
                  </a:tcPr>
                </a:tc>
                <a:tc>
                  <a:txBody>
                    <a:bodyPr/>
                    <a:lstStyle/>
                    <a:p>
                      <a:pPr algn="r"/>
                      <a:r>
                        <a:rPr sz="1050" b="0">
                          <a:solidFill>
                            <a:srgbClr val="1A1A1A"/>
                          </a:solidFill>
                          <a:latin typeface="Arial"/>
                        </a:rPr>
                        <a:t>≈ 147 000 CHF</a:t>
                      </a:r>
                    </a:p>
                  </a:txBody>
                  <a:tcPr anchor="ctr" marL="91440" marR="91440" marT="27432" marB="27432">
                    <a:solidFill>
                      <a:srgbClr val="FFFFFF"/>
                    </a:solidFill>
                  </a:tcPr>
                </a:tc>
              </a:tr>
              <a:tr h="475488">
                <a:tc>
                  <a:txBody>
                    <a:bodyPr/>
                    <a:lstStyle/>
                    <a:p>
                      <a:pPr algn="l"/>
                      <a:r>
                        <a:rPr sz="1050" b="1">
                          <a:solidFill>
                            <a:srgbClr val="0F2742"/>
                          </a:solidFill>
                          <a:latin typeface="Arial"/>
                        </a:rPr>
                        <a:t>Revenu annualisé (run-rate ARR)</a:t>
                      </a:r>
                    </a:p>
                  </a:txBody>
                  <a:tcPr anchor="ctr" marL="91440" marR="91440" marT="27432" marB="27432">
                    <a:solidFill>
                      <a:srgbClr val="F5F6F8"/>
                    </a:solidFill>
                  </a:tcPr>
                </a:tc>
                <a:tc>
                  <a:txBody>
                    <a:bodyPr/>
                    <a:lstStyle/>
                    <a:p>
                      <a:pPr algn="r"/>
                      <a:r>
                        <a:rPr sz="1050" b="0">
                          <a:solidFill>
                            <a:srgbClr val="1A1A1A"/>
                          </a:solidFill>
                          <a:latin typeface="Arial"/>
                        </a:rPr>
                        <a:t>≈ 176 000 CHF</a:t>
                      </a:r>
                    </a:p>
                  </a:txBody>
                  <a:tcPr anchor="ctr" marL="91440" marR="91440" marT="27432" marB="27432">
                    <a:solidFill>
                      <a:srgbClr val="F5F6F8"/>
                    </a:solidFill>
                  </a:tcPr>
                </a:tc>
                <a:tc>
                  <a:txBody>
                    <a:bodyPr/>
                    <a:lstStyle/>
                    <a:p>
                      <a:pPr algn="r"/>
                      <a:r>
                        <a:rPr sz="1050" b="0">
                          <a:solidFill>
                            <a:srgbClr val="1A1A1A"/>
                          </a:solidFill>
                          <a:latin typeface="Arial"/>
                        </a:rPr>
                        <a:t>≈ 706 000 CHF</a:t>
                      </a:r>
                    </a:p>
                  </a:txBody>
                  <a:tcPr anchor="ctr" marL="91440" marR="91440" marT="27432" marB="27432">
                    <a:solidFill>
                      <a:srgbClr val="F5F6F8"/>
                    </a:solidFill>
                  </a:tcPr>
                </a:tc>
                <a:tc>
                  <a:txBody>
                    <a:bodyPr/>
                    <a:lstStyle/>
                    <a:p>
                      <a:pPr algn="r"/>
                      <a:r>
                        <a:rPr sz="1050" b="0">
                          <a:solidFill>
                            <a:srgbClr val="1A1A1A"/>
                          </a:solidFill>
                          <a:latin typeface="Arial"/>
                        </a:rPr>
                        <a:t>≈ 1 760 000 CHF</a:t>
                      </a:r>
                    </a:p>
                  </a:txBody>
                  <a:tcPr anchor="ctr" marL="91440" marR="91440" marT="27432" marB="27432">
                    <a:solidFill>
                      <a:srgbClr val="F5F6F8"/>
                    </a:solidFill>
                  </a:tcPr>
                </a:tc>
              </a:tr>
              <a:tr h="475488">
                <a:tc>
                  <a:txBody>
                    <a:bodyPr/>
                    <a:lstStyle/>
                    <a:p>
                      <a:pPr algn="l"/>
                      <a:r>
                        <a:rPr sz="1050" b="1">
                          <a:solidFill>
                            <a:srgbClr val="0F2742"/>
                          </a:solidFill>
                          <a:latin typeface="Arial"/>
                        </a:rPr>
                        <a:t>Revenu encaissé (ordre de grandeur)</a:t>
                      </a:r>
                    </a:p>
                  </a:txBody>
                  <a:tcPr anchor="ctr" marL="91440" marR="91440" marT="27432" marB="27432">
                    <a:solidFill>
                      <a:srgbClr val="FFFFFF"/>
                    </a:solidFill>
                  </a:tcPr>
                </a:tc>
                <a:tc>
                  <a:txBody>
                    <a:bodyPr/>
                    <a:lstStyle/>
                    <a:p>
                      <a:pPr algn="r"/>
                      <a:r>
                        <a:rPr sz="1050" b="0">
                          <a:solidFill>
                            <a:srgbClr val="1A1A1A"/>
                          </a:solidFill>
                          <a:latin typeface="Arial"/>
                        </a:rPr>
                        <a:t>≈ 80 000 CHF</a:t>
                      </a:r>
                    </a:p>
                  </a:txBody>
                  <a:tcPr anchor="ctr" marL="91440" marR="91440" marT="27432" marB="27432">
                    <a:solidFill>
                      <a:srgbClr val="FFFFFF"/>
                    </a:solidFill>
                  </a:tcPr>
                </a:tc>
                <a:tc>
                  <a:txBody>
                    <a:bodyPr/>
                    <a:lstStyle/>
                    <a:p>
                      <a:pPr algn="r"/>
                      <a:r>
                        <a:rPr sz="1050" b="0">
                          <a:solidFill>
                            <a:srgbClr val="1A1A1A"/>
                          </a:solidFill>
                          <a:latin typeface="Arial"/>
                        </a:rPr>
                        <a:t>≈ 400 000 CHF</a:t>
                      </a:r>
                    </a:p>
                  </a:txBody>
                  <a:tcPr anchor="ctr" marL="91440" marR="91440" marT="27432" marB="27432">
                    <a:solidFill>
                      <a:srgbClr val="FFFFFF"/>
                    </a:solidFill>
                  </a:tcPr>
                </a:tc>
                <a:tc>
                  <a:txBody>
                    <a:bodyPr/>
                    <a:lstStyle/>
                    <a:p>
                      <a:pPr algn="r"/>
                      <a:r>
                        <a:rPr sz="1050" b="0">
                          <a:solidFill>
                            <a:srgbClr val="1A1A1A"/>
                          </a:solidFill>
                          <a:latin typeface="Arial"/>
                        </a:rPr>
                        <a:t>≈ 1 100 000 CHF</a:t>
                      </a:r>
                    </a:p>
                  </a:txBody>
                  <a:tcPr anchor="ctr" marL="91440" marR="91440" marT="27432" marB="27432">
                    <a:solidFill>
                      <a:srgbClr val="FFFFFF"/>
                    </a:solidFill>
                  </a:tcPr>
                </a:tc>
              </a:tr>
            </a:tbl>
          </a:graphicData>
        </a:graphic>
      </p:graphicFrame>
      <p:cxnSp>
        <p:nvCxnSpPr>
          <p:cNvPr id="9" name="Connector 8"/>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1" name="TextBox 10"/>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Revenu mensuel récurrent (MRR)</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Le MRR de fin d'année — moteur du revenu annualisé.</a:t>
            </a:r>
          </a:p>
        </p:txBody>
      </p:sp>
      <p:graphicFrame>
        <p:nvGraphicFramePr>
          <p:cNvPr id="8" name="Chart 7"/>
          <p:cNvGraphicFramePr>
            <a:graphicFrameLocks noGrp="1"/>
          </p:cNvGraphicFramePr>
          <p:nvPr/>
        </p:nvGraphicFramePr>
        <p:xfrm>
          <a:off x="566928" y="1773936"/>
          <a:ext cx="7298173" cy="4352544"/>
        </p:xfrm>
        <a:graphic>
          <a:graphicData uri="http://schemas.openxmlformats.org/drawingml/2006/chart">
            <c:chart xmlns:c="http://schemas.openxmlformats.org/drawingml/2006/chart" r:id="rId2"/>
          </a:graphicData>
        </a:graphic>
      </p:graphicFrame>
      <p:sp>
        <p:nvSpPr>
          <p:cNvPr id="9" name="Rectangle 8"/>
          <p:cNvSpPr/>
          <p:nvPr/>
        </p:nvSpPr>
        <p:spPr>
          <a:xfrm>
            <a:off x="8276581" y="1865376"/>
            <a:ext cx="91440" cy="82296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14325" y="1819656"/>
            <a:ext cx="3110441"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F2742"/>
                </a:solidFill>
                <a:latin typeface="Playfair Display"/>
              </a:rPr>
              <a:t>× 10 en trois ans</a:t>
            </a:r>
          </a:p>
        </p:txBody>
      </p:sp>
      <p:sp>
        <p:nvSpPr>
          <p:cNvPr id="11" name="TextBox 10"/>
          <p:cNvSpPr txBox="1"/>
          <p:nvPr/>
        </p:nvSpPr>
        <p:spPr>
          <a:xfrm>
            <a:off x="8514325" y="2203704"/>
            <a:ext cx="3110441" cy="82296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De ≈ 14 700 CHF à ≈ 147 000 CHF de MRR, porté par la montée en charge des abonnés.</a:t>
            </a:r>
          </a:p>
        </p:txBody>
      </p:sp>
      <p:sp>
        <p:nvSpPr>
          <p:cNvPr id="12" name="TextBox 11"/>
          <p:cNvSpPr txBox="1"/>
          <p:nvPr/>
        </p:nvSpPr>
        <p:spPr>
          <a:xfrm>
            <a:off x="8514325" y="3054096"/>
            <a:ext cx="3110441"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F2742"/>
                </a:solidFill>
                <a:latin typeface="Playfair Display"/>
              </a:rPr>
              <a:t>Run-rate ≈ 1,76 M CHF</a:t>
            </a:r>
          </a:p>
        </p:txBody>
      </p:sp>
      <p:sp>
        <p:nvSpPr>
          <p:cNvPr id="13" name="TextBox 12"/>
          <p:cNvSpPr txBox="1"/>
          <p:nvPr/>
        </p:nvSpPr>
        <p:spPr>
          <a:xfrm>
            <a:off x="8514325" y="3438144"/>
            <a:ext cx="3110441" cy="82296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Le revenu annualisé de fin d'année 3, base d'un modèle rentable et durable.</a:t>
            </a:r>
          </a:p>
        </p:txBody>
      </p:sp>
      <p:cxnSp>
        <p:nvCxnSpPr>
          <p:cNvPr id="14" name="Connector 13"/>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6" name="TextBox 15"/>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Audience gratuite &amp; abonnés payants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Le gratuit alimente le payant : la conversion se construit dans la durée.</a:t>
            </a:r>
          </a:p>
        </p:txBody>
      </p:sp>
      <p:graphicFrame>
        <p:nvGraphicFramePr>
          <p:cNvPr id="8" name="Chart 7"/>
          <p:cNvGraphicFramePr>
            <a:graphicFrameLocks noGrp="1"/>
          </p:cNvGraphicFramePr>
          <p:nvPr/>
        </p:nvGraphicFramePr>
        <p:xfrm>
          <a:off x="566928" y="1773936"/>
          <a:ext cx="7298173" cy="4352544"/>
        </p:xfrm>
        <a:graphic>
          <a:graphicData uri="http://schemas.openxmlformats.org/drawingml/2006/chart">
            <c:chart xmlns:c="http://schemas.openxmlformats.org/drawingml/2006/chart" r:id="rId2"/>
          </a:graphicData>
        </a:graphic>
      </p:graphicFrame>
      <p:sp>
        <p:nvSpPr>
          <p:cNvPr id="9" name="Rectangle 8"/>
          <p:cNvSpPr/>
          <p:nvPr/>
        </p:nvSpPr>
        <p:spPr>
          <a:xfrm>
            <a:off x="8276581" y="1865376"/>
            <a:ext cx="91440" cy="82296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14325" y="1819656"/>
            <a:ext cx="3110441"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F2742"/>
                </a:solidFill>
                <a:latin typeface="Playfair Display"/>
              </a:rPr>
              <a:t>Le gratuit d'abord</a:t>
            </a:r>
          </a:p>
        </p:txBody>
      </p:sp>
      <p:sp>
        <p:nvSpPr>
          <p:cNvPr id="11" name="TextBox 10"/>
          <p:cNvSpPr txBox="1"/>
          <p:nvPr/>
        </p:nvSpPr>
        <p:spPr>
          <a:xfrm>
            <a:off x="8514325" y="2203704"/>
            <a:ext cx="3110441" cy="82296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Une liste qui croît de 1 000 à 50 000 inscrits, réchauffée par le briefing quotidien.</a:t>
            </a:r>
          </a:p>
        </p:txBody>
      </p:sp>
      <p:sp>
        <p:nvSpPr>
          <p:cNvPr id="12" name="TextBox 11"/>
          <p:cNvSpPr txBox="1"/>
          <p:nvPr/>
        </p:nvSpPr>
        <p:spPr>
          <a:xfrm>
            <a:off x="8514325" y="3054096"/>
            <a:ext cx="3110441"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F2742"/>
                </a:solidFill>
                <a:latin typeface="Playfair Display"/>
              </a:rPr>
              <a:t>≈ 3 000 abonnés</a:t>
            </a:r>
          </a:p>
        </p:txBody>
      </p:sp>
      <p:sp>
        <p:nvSpPr>
          <p:cNvPr id="13" name="TextBox 12"/>
          <p:cNvSpPr txBox="1"/>
          <p:nvPr/>
        </p:nvSpPr>
        <p:spPr>
          <a:xfrm>
            <a:off x="8514325" y="3438144"/>
            <a:ext cx="3110441" cy="822960"/>
          </a:xfrm>
          <a:prstGeom prst="rect">
            <a:avLst/>
          </a:prstGeom>
          <a:noFill/>
        </p:spPr>
        <p:txBody>
          <a:bodyPr wrap="square" anchor="t" lIns="0" rIns="0" tIns="0" bIns="0">
            <a:spAutoFit/>
          </a:bodyPr>
          <a:lstStyle/>
          <a:p>
            <a:pPr algn="l">
              <a:lnSpc>
                <a:spcPct val="110000"/>
              </a:lnSpc>
              <a:spcBef>
                <a:spcPts val="0"/>
              </a:spcBef>
              <a:spcAft>
                <a:spcPts val="400"/>
              </a:spcAft>
            </a:pPr>
            <a:r>
              <a:rPr sz="1050" b="0" i="0">
                <a:solidFill>
                  <a:srgbClr val="1A1A1A"/>
                </a:solidFill>
                <a:latin typeface="Arial"/>
              </a:rPr>
              <a:t>Le SOM visé : une fraction de pour-cent du marché adressable.</a:t>
            </a:r>
          </a:p>
        </p:txBody>
      </p:sp>
      <p:cxnSp>
        <p:nvCxnSpPr>
          <p:cNvPr id="14" name="Connector 13"/>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6" name="TextBox 15"/>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Trois scénarios à 3 ans</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La taille du marché n'est pas la contrainte ; l'exécution l'est.</a:t>
            </a:r>
          </a:p>
        </p:txBody>
      </p:sp>
      <p:sp>
        <p:nvSpPr>
          <p:cNvPr id="8" name="Rounded Rectangle 7"/>
          <p:cNvSpPr/>
          <p:nvPr/>
        </p:nvSpPr>
        <p:spPr>
          <a:xfrm>
            <a:off x="566928"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1947672"/>
            <a:ext cx="274320" cy="274320"/>
          </a:xfrm>
          <a:prstGeom prst="rect">
            <a:avLst/>
          </a:prstGeom>
          <a:solidFill>
            <a:srgbClr val="5B7A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PRUDENT</a:t>
            </a:r>
          </a:p>
        </p:txBody>
      </p:sp>
      <p:sp>
        <p:nvSpPr>
          <p:cNvPr id="11" name="TextBox 10"/>
          <p:cNvSpPr txBox="1"/>
          <p:nvPr/>
        </p:nvSpPr>
        <p:spPr>
          <a:xfrm>
            <a:off x="1170432"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 1 200–1 500 abonnés</a:t>
            </a:r>
          </a:p>
        </p:txBody>
      </p:sp>
      <p:sp>
        <p:nvSpPr>
          <p:cNvPr id="12" name="TextBox 11"/>
          <p:cNvSpPr txBox="1"/>
          <p:nvPr/>
        </p:nvSpPr>
        <p:spPr>
          <a:xfrm>
            <a:off x="768096"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Conversion ≈ 2 %, croissance plus lente. Le modèle reste viable et léger.</a:t>
            </a:r>
          </a:p>
        </p:txBody>
      </p:sp>
      <p:sp>
        <p:nvSpPr>
          <p:cNvPr id="13" name="Rounded Rectangle 12"/>
          <p:cNvSpPr/>
          <p:nvPr/>
        </p:nvSpPr>
        <p:spPr>
          <a:xfrm>
            <a:off x="4374794"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5962" y="1947672"/>
            <a:ext cx="274320" cy="27432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8298"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BASE</a:t>
            </a:r>
          </a:p>
        </p:txBody>
      </p:sp>
      <p:sp>
        <p:nvSpPr>
          <p:cNvPr id="16" name="TextBox 15"/>
          <p:cNvSpPr txBox="1"/>
          <p:nvPr/>
        </p:nvSpPr>
        <p:spPr>
          <a:xfrm>
            <a:off x="4978298"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 3 000 abonnés</a:t>
            </a:r>
          </a:p>
        </p:txBody>
      </p:sp>
      <p:sp>
        <p:nvSpPr>
          <p:cNvPr id="17" name="TextBox 16"/>
          <p:cNvSpPr txBox="1"/>
          <p:nvPr/>
        </p:nvSpPr>
        <p:spPr>
          <a:xfrm>
            <a:off x="4575962"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Conversion 3–4 %, rétention soutenue par l'annuel. Run-rate ARR ≈ 1,76 M CHF.</a:t>
            </a:r>
          </a:p>
        </p:txBody>
      </p:sp>
      <p:sp>
        <p:nvSpPr>
          <p:cNvPr id="18" name="Rounded Rectangle 17"/>
          <p:cNvSpPr/>
          <p:nvPr/>
        </p:nvSpPr>
        <p:spPr>
          <a:xfrm>
            <a:off x="8182660" y="1728216"/>
            <a:ext cx="3442106" cy="4261104"/>
          </a:xfrm>
          <a:prstGeom prst="roundRect">
            <a:avLst>
              <a:gd name="adj" fmla="val 4500"/>
            </a:avLst>
          </a:prstGeom>
          <a:solidFill>
            <a:srgbClr val="FFFFFF"/>
          </a:solidFill>
          <a:ln w="9525">
            <a:solidFill>
              <a:srgbClr val="E2E5EA"/>
            </a:solidFill>
          </a:ln>
          <a:effectLst/>
          <a:effectLst>
            <a:outerShdw blurRad="40000" dist="20000" dir="5400000" rotWithShape="0">
              <a:srgbClr val="0F2742">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83828" y="1947672"/>
            <a:ext cx="274320" cy="2743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6164" y="1929384"/>
            <a:ext cx="2637434" cy="256032"/>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5B7A9D"/>
                </a:solidFill>
                <a:latin typeface="Arial"/>
              </a:rPr>
              <a:t>AMBITIEUX</a:t>
            </a:r>
          </a:p>
        </p:txBody>
      </p:sp>
      <p:sp>
        <p:nvSpPr>
          <p:cNvPr id="21" name="TextBox 20"/>
          <p:cNvSpPr txBox="1"/>
          <p:nvPr/>
        </p:nvSpPr>
        <p:spPr>
          <a:xfrm>
            <a:off x="8786164" y="2167128"/>
            <a:ext cx="2637434"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2742"/>
                </a:solidFill>
                <a:latin typeface="Playfair Display"/>
              </a:rPr>
              <a:t>5 000+ abonnés</a:t>
            </a:r>
          </a:p>
        </p:txBody>
      </p:sp>
      <p:sp>
        <p:nvSpPr>
          <p:cNvPr id="22" name="TextBox 21"/>
          <p:cNvSpPr txBox="1"/>
          <p:nvPr/>
        </p:nvSpPr>
        <p:spPr>
          <a:xfrm>
            <a:off x="8383828" y="2587752"/>
            <a:ext cx="3039770" cy="3200400"/>
          </a:xfrm>
          <a:prstGeom prst="rect">
            <a:avLst/>
          </a:prstGeom>
          <a:noFill/>
        </p:spPr>
        <p:txBody>
          <a:bodyPr wrap="square" anchor="t" lIns="0" rIns="0" tIns="0" bIns="0">
            <a:spAutoFit/>
          </a:bodyPr>
          <a:lstStyle/>
          <a:p>
            <a:pPr algn="l">
              <a:lnSpc>
                <a:spcPct val="108000"/>
              </a:lnSpc>
              <a:spcBef>
                <a:spcPts val="0"/>
              </a:spcBef>
              <a:spcAft>
                <a:spcPts val="500"/>
              </a:spcAft>
            </a:pPr>
            <a:r>
              <a:rPr sz="1050" b="0" i="0">
                <a:solidFill>
                  <a:srgbClr val="1A1A1A"/>
                </a:solidFill>
                <a:latin typeface="Arial"/>
              </a:rPr>
              <a:t>Conversion ≈ 5 %, extension France/Belgique réussie et offre B2B. Revenus diversifiés.</a:t>
            </a:r>
          </a:p>
        </p:txBody>
      </p:sp>
      <p:cxnSp>
        <p:nvCxnSpPr>
          <p:cNvPr id="23" name="Connector 22"/>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5" name="TextBox 24"/>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Indicateurs clés à piloter</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Croissance de la liste, conversion, MRR/ARR, churn, CAC, LTV/CAC, engagement, NPS.</a:t>
            </a:r>
          </a:p>
        </p:txBody>
      </p:sp>
      <p:graphicFrame>
        <p:nvGraphicFramePr>
          <p:cNvPr id="8" name="Chart 7"/>
          <p:cNvGraphicFramePr>
            <a:graphicFrameLocks noGrp="1"/>
          </p:cNvGraphicFramePr>
          <p:nvPr/>
        </p:nvGraphicFramePr>
        <p:xfrm>
          <a:off x="1023061" y="2002536"/>
          <a:ext cx="2468880" cy="2468880"/>
        </p:xfrm>
        <a:graphic>
          <a:graphicData uri="http://schemas.openxmlformats.org/drawingml/2006/chart">
            <c:chart xmlns:c="http://schemas.openxmlformats.org/drawingml/2006/chart" r:id="rId2"/>
          </a:graphicData>
        </a:graphic>
      </p:graphicFrame>
      <p:sp>
        <p:nvSpPr>
          <p:cNvPr id="9" name="TextBox 8"/>
          <p:cNvSpPr txBox="1"/>
          <p:nvPr/>
        </p:nvSpPr>
        <p:spPr>
          <a:xfrm>
            <a:off x="1023061" y="2852928"/>
            <a:ext cx="24688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0F2742"/>
                </a:solidFill>
                <a:latin typeface="Playfair Display"/>
              </a:rPr>
              <a:t>4 %</a:t>
            </a:r>
          </a:p>
        </p:txBody>
      </p:sp>
      <p:sp>
        <p:nvSpPr>
          <p:cNvPr id="10" name="TextBox 9"/>
          <p:cNvSpPr txBox="1"/>
          <p:nvPr/>
        </p:nvSpPr>
        <p:spPr>
          <a:xfrm>
            <a:off x="566928" y="4581144"/>
            <a:ext cx="3381146"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0F2742"/>
                </a:solidFill>
                <a:latin typeface="Arial"/>
              </a:rPr>
              <a:t>CONVERSION CIBLE</a:t>
            </a:r>
          </a:p>
        </p:txBody>
      </p:sp>
      <p:sp>
        <p:nvSpPr>
          <p:cNvPr id="11" name="TextBox 10"/>
          <p:cNvSpPr txBox="1"/>
          <p:nvPr/>
        </p:nvSpPr>
        <p:spPr>
          <a:xfrm>
            <a:off x="566928" y="4910328"/>
            <a:ext cx="3381146" cy="640080"/>
          </a:xfrm>
          <a:prstGeom prst="rect">
            <a:avLst/>
          </a:prstGeom>
          <a:noFill/>
        </p:spPr>
        <p:txBody>
          <a:bodyPr wrap="square" anchor="t" lIns="0" rIns="0" tIns="0" bIns="0">
            <a:spAutoFit/>
          </a:bodyPr>
          <a:lstStyle/>
          <a:p>
            <a:pPr algn="ctr">
              <a:lnSpc>
                <a:spcPct val="105000"/>
              </a:lnSpc>
              <a:spcBef>
                <a:spcPts val="0"/>
              </a:spcBef>
              <a:spcAft>
                <a:spcPts val="400"/>
              </a:spcAft>
            </a:pPr>
            <a:r>
              <a:rPr sz="950" b="0" i="0">
                <a:solidFill>
                  <a:srgbClr val="5B7A9D"/>
                </a:solidFill>
                <a:latin typeface="Arial"/>
              </a:rPr>
              <a:t>Gratuit → payant, dans la fourchette 3–4 % du scénario de base.</a:t>
            </a:r>
          </a:p>
        </p:txBody>
      </p:sp>
      <p:graphicFrame>
        <p:nvGraphicFramePr>
          <p:cNvPr id="12" name="Chart 11"/>
          <p:cNvGraphicFramePr>
            <a:graphicFrameLocks noGrp="1"/>
          </p:cNvGraphicFramePr>
          <p:nvPr/>
        </p:nvGraphicFramePr>
        <p:xfrm>
          <a:off x="4861407" y="2002536"/>
          <a:ext cx="2468880" cy="2468880"/>
        </p:xfrm>
        <a:graphic>
          <a:graphicData uri="http://schemas.openxmlformats.org/drawingml/2006/chart">
            <c:chart xmlns:c="http://schemas.openxmlformats.org/drawingml/2006/chart" r:id="rId3"/>
          </a:graphicData>
        </a:graphic>
      </p:graphicFrame>
      <p:sp>
        <p:nvSpPr>
          <p:cNvPr id="13" name="TextBox 12"/>
          <p:cNvSpPr txBox="1"/>
          <p:nvPr/>
        </p:nvSpPr>
        <p:spPr>
          <a:xfrm>
            <a:off x="4861407" y="2852928"/>
            <a:ext cx="24688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0F2742"/>
                </a:solidFill>
                <a:latin typeface="Playfair Display"/>
              </a:rPr>
              <a:t>45 %</a:t>
            </a:r>
          </a:p>
        </p:txBody>
      </p:sp>
      <p:sp>
        <p:nvSpPr>
          <p:cNvPr id="14" name="TextBox 13"/>
          <p:cNvSpPr txBox="1"/>
          <p:nvPr/>
        </p:nvSpPr>
        <p:spPr>
          <a:xfrm>
            <a:off x="4405274" y="4581144"/>
            <a:ext cx="3381146"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0F2742"/>
                </a:solidFill>
                <a:latin typeface="Arial"/>
              </a:rPr>
              <a:t>OUVERTURE E-MAIL</a:t>
            </a:r>
          </a:p>
        </p:txBody>
      </p:sp>
      <p:sp>
        <p:nvSpPr>
          <p:cNvPr id="15" name="TextBox 14"/>
          <p:cNvSpPr txBox="1"/>
          <p:nvPr/>
        </p:nvSpPr>
        <p:spPr>
          <a:xfrm>
            <a:off x="4405274" y="4910328"/>
            <a:ext cx="3381146" cy="640080"/>
          </a:xfrm>
          <a:prstGeom prst="rect">
            <a:avLst/>
          </a:prstGeom>
          <a:noFill/>
        </p:spPr>
        <p:txBody>
          <a:bodyPr wrap="square" anchor="t" lIns="0" rIns="0" tIns="0" bIns="0">
            <a:spAutoFit/>
          </a:bodyPr>
          <a:lstStyle/>
          <a:p>
            <a:pPr algn="ctr">
              <a:lnSpc>
                <a:spcPct val="105000"/>
              </a:lnSpc>
              <a:spcBef>
                <a:spcPts val="0"/>
              </a:spcBef>
              <a:spcAft>
                <a:spcPts val="400"/>
              </a:spcAft>
            </a:pPr>
            <a:r>
              <a:rPr sz="950" b="0" i="0">
                <a:solidFill>
                  <a:srgbClr val="5B7A9D"/>
                </a:solidFill>
                <a:latin typeface="Arial"/>
              </a:rPr>
              <a:t>Engagement des briefings — indicateur d'habitude et de rétention.</a:t>
            </a:r>
          </a:p>
        </p:txBody>
      </p:sp>
      <p:graphicFrame>
        <p:nvGraphicFramePr>
          <p:cNvPr id="16" name="Chart 15"/>
          <p:cNvGraphicFramePr>
            <a:graphicFrameLocks noGrp="1"/>
          </p:cNvGraphicFramePr>
          <p:nvPr/>
        </p:nvGraphicFramePr>
        <p:xfrm>
          <a:off x="8699754" y="2002536"/>
          <a:ext cx="2468880" cy="2468880"/>
        </p:xfrm>
        <a:graphic>
          <a:graphicData uri="http://schemas.openxmlformats.org/drawingml/2006/chart">
            <c:chart xmlns:c="http://schemas.openxmlformats.org/drawingml/2006/chart" r:id="rId4"/>
          </a:graphicData>
        </a:graphic>
      </p:graphicFrame>
      <p:sp>
        <p:nvSpPr>
          <p:cNvPr id="17" name="TextBox 16"/>
          <p:cNvSpPr txBox="1"/>
          <p:nvPr/>
        </p:nvSpPr>
        <p:spPr>
          <a:xfrm>
            <a:off x="8699754" y="2852928"/>
            <a:ext cx="24688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0F2742"/>
                </a:solidFill>
                <a:latin typeface="Playfair Display"/>
              </a:rPr>
              <a:t>60 %</a:t>
            </a:r>
          </a:p>
        </p:txBody>
      </p:sp>
      <p:sp>
        <p:nvSpPr>
          <p:cNvPr id="18" name="TextBox 17"/>
          <p:cNvSpPr txBox="1"/>
          <p:nvPr/>
        </p:nvSpPr>
        <p:spPr>
          <a:xfrm>
            <a:off x="8243620" y="4581144"/>
            <a:ext cx="3381146"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0F2742"/>
                </a:solidFill>
                <a:latin typeface="Arial"/>
              </a:rPr>
              <a:t>PART D'ABONNÉS ANNUELS</a:t>
            </a:r>
          </a:p>
        </p:txBody>
      </p:sp>
      <p:sp>
        <p:nvSpPr>
          <p:cNvPr id="19" name="TextBox 18"/>
          <p:cNvSpPr txBox="1"/>
          <p:nvPr/>
        </p:nvSpPr>
        <p:spPr>
          <a:xfrm>
            <a:off x="8243620" y="4910328"/>
            <a:ext cx="3381146" cy="640080"/>
          </a:xfrm>
          <a:prstGeom prst="rect">
            <a:avLst/>
          </a:prstGeom>
          <a:noFill/>
        </p:spPr>
        <p:txBody>
          <a:bodyPr wrap="square" anchor="t" lIns="0" rIns="0" tIns="0" bIns="0">
            <a:spAutoFit/>
          </a:bodyPr>
          <a:lstStyle/>
          <a:p>
            <a:pPr algn="ctr">
              <a:lnSpc>
                <a:spcPct val="105000"/>
              </a:lnSpc>
              <a:spcBef>
                <a:spcPts val="0"/>
              </a:spcBef>
              <a:spcAft>
                <a:spcPts val="400"/>
              </a:spcAft>
            </a:pPr>
            <a:r>
              <a:rPr sz="950" b="0" i="0">
                <a:solidFill>
                  <a:srgbClr val="5B7A9D"/>
                </a:solidFill>
                <a:latin typeface="Arial"/>
              </a:rPr>
              <a:t>L'annuel stabilise le revenu et réduit le churn.</a:t>
            </a:r>
          </a:p>
        </p:txBody>
      </p:sp>
      <p:cxnSp>
        <p:nvCxnSpPr>
          <p:cNvPr id="20" name="Connector 19"/>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2" name="TextBox 21"/>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Risques &amp; mitigation</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Sept risques identifiés, chacun assorti d'une mitigation concrète.</a:t>
            </a:r>
          </a:p>
        </p:txBody>
      </p:sp>
      <p:graphicFrame>
        <p:nvGraphicFramePr>
          <p:cNvPr id="8" name="Table 7"/>
          <p:cNvGraphicFramePr>
            <a:graphicFrameLocks noGrp="1"/>
          </p:cNvGraphicFramePr>
          <p:nvPr/>
        </p:nvGraphicFramePr>
        <p:xfrm>
          <a:off x="566928" y="1728216"/>
          <a:ext cx="11057838" cy="3328416"/>
        </p:xfrm>
        <a:graphic>
          <a:graphicData uri="http://schemas.openxmlformats.org/drawingml/2006/table">
            <a:tbl>
              <a:tblPr>
                <a:tableStyleId>{5C22544A-7EE6-4342-B048-85BDC9FD1C3A}</a:tableStyleId>
              </a:tblPr>
              <a:tblGrid>
                <a:gridCol w="2653881"/>
                <a:gridCol w="4423135"/>
                <a:gridCol w="3980822"/>
              </a:tblGrid>
              <a:tr h="475488">
                <a:tc>
                  <a:txBody>
                    <a:bodyPr/>
                    <a:lstStyle/>
                    <a:p>
                      <a:pPr algn="l"/>
                      <a:r>
                        <a:rPr sz="1100" b="1">
                          <a:solidFill>
                            <a:srgbClr val="F7F7F4"/>
                          </a:solidFill>
                          <a:latin typeface="Arial"/>
                        </a:rPr>
                        <a:t>Risque</a:t>
                      </a:r>
                    </a:p>
                  </a:txBody>
                  <a:tcPr anchor="ctr" marL="91440" marR="91440" marT="36576" marB="36576">
                    <a:solidFill>
                      <a:srgbClr val="0F2742"/>
                    </a:solidFill>
                  </a:tcPr>
                </a:tc>
                <a:tc>
                  <a:txBody>
                    <a:bodyPr/>
                    <a:lstStyle/>
                    <a:p>
                      <a:pPr algn="l"/>
                      <a:r>
                        <a:rPr sz="1100" b="1">
                          <a:solidFill>
                            <a:srgbClr val="F7F7F4"/>
                          </a:solidFill>
                          <a:latin typeface="Arial"/>
                        </a:rPr>
                        <a:t>Description</a:t>
                      </a:r>
                    </a:p>
                  </a:txBody>
                  <a:tcPr anchor="ctr" marL="91440" marR="91440" marT="36576" marB="36576">
                    <a:solidFill>
                      <a:srgbClr val="0F2742"/>
                    </a:solidFill>
                  </a:tcPr>
                </a:tc>
                <a:tc>
                  <a:txBody>
                    <a:bodyPr/>
                    <a:lstStyle/>
                    <a:p>
                      <a:pPr algn="l"/>
                      <a:r>
                        <a:rPr sz="1100" b="1">
                          <a:solidFill>
                            <a:srgbClr val="F7F7F4"/>
                          </a:solidFill>
                          <a:latin typeface="Arial"/>
                        </a:rPr>
                        <a:t>Mitigation</a:t>
                      </a:r>
                    </a:p>
                  </a:txBody>
                  <a:tcPr anchor="ctr" marL="91440" marR="91440" marT="36576" marB="36576">
                    <a:solidFill>
                      <a:srgbClr val="0F2742"/>
                    </a:solidFill>
                  </a:tcPr>
                </a:tc>
              </a:tr>
              <a:tr h="475488">
                <a:tc>
                  <a:txBody>
                    <a:bodyPr/>
                    <a:lstStyle/>
                    <a:p>
                      <a:pPr algn="l"/>
                      <a:r>
                        <a:rPr sz="1050" b="1">
                          <a:solidFill>
                            <a:srgbClr val="0F2742"/>
                          </a:solidFill>
                          <a:latin typeface="Arial"/>
                        </a:rPr>
                        <a:t>Dépendance à un canal</a:t>
                      </a:r>
                    </a:p>
                  </a:txBody>
                  <a:tcPr anchor="ctr" marL="91440" marR="91440" marT="27432" marB="27432">
                    <a:solidFill>
                      <a:srgbClr val="FFFFFF"/>
                    </a:solidFill>
                  </a:tcPr>
                </a:tc>
                <a:tc>
                  <a:txBody>
                    <a:bodyPr/>
                    <a:lstStyle/>
                    <a:p>
                      <a:pPr algn="l"/>
                      <a:r>
                        <a:rPr sz="1050" b="0">
                          <a:solidFill>
                            <a:srgbClr val="1A1A1A"/>
                          </a:solidFill>
                          <a:latin typeface="Arial"/>
                        </a:rPr>
                        <a:t>Forte dépendance à Meta (coûts, algorithme)</a:t>
                      </a:r>
                    </a:p>
                  </a:txBody>
                  <a:tcPr anchor="ctr" marL="91440" marR="91440" marT="27432" marB="27432">
                    <a:solidFill>
                      <a:srgbClr val="FFFFFF"/>
                    </a:solidFill>
                  </a:tcPr>
                </a:tc>
                <a:tc>
                  <a:txBody>
                    <a:bodyPr/>
                    <a:lstStyle/>
                    <a:p>
                      <a:pPr algn="l"/>
                      <a:r>
                        <a:rPr sz="1050" b="0">
                          <a:solidFill>
                            <a:srgbClr val="1A1A1A"/>
                          </a:solidFill>
                          <a:latin typeface="Arial"/>
                        </a:rPr>
                        <a:t>Diversifier : organique, parrainage, SEO</a:t>
                      </a:r>
                    </a:p>
                  </a:txBody>
                  <a:tcPr anchor="ctr" marL="91440" marR="91440" marT="27432" marB="27432">
                    <a:solidFill>
                      <a:srgbClr val="FFFFFF"/>
                    </a:solidFill>
                  </a:tcPr>
                </a:tc>
              </a:tr>
              <a:tr h="475488">
                <a:tc>
                  <a:txBody>
                    <a:bodyPr/>
                    <a:lstStyle/>
                    <a:p>
                      <a:pPr algn="l"/>
                      <a:r>
                        <a:rPr sz="1050" b="1">
                          <a:solidFill>
                            <a:srgbClr val="0F2742"/>
                          </a:solidFill>
                          <a:latin typeface="Arial"/>
                        </a:rPr>
                        <a:t>Churn élevé</a:t>
                      </a:r>
                    </a:p>
                  </a:txBody>
                  <a:tcPr anchor="ctr" marL="91440" marR="91440" marT="27432" marB="27432">
                    <a:solidFill>
                      <a:srgbClr val="F5F6F8"/>
                    </a:solidFill>
                  </a:tcPr>
                </a:tc>
                <a:tc>
                  <a:txBody>
                    <a:bodyPr/>
                    <a:lstStyle/>
                    <a:p>
                      <a:pPr algn="l"/>
                      <a:r>
                        <a:rPr sz="1050" b="0">
                          <a:solidFill>
                            <a:srgbClr val="1A1A1A"/>
                          </a:solidFill>
                          <a:latin typeface="Arial"/>
                        </a:rPr>
                        <a:t>Le prix premium augmente l'exigence de valeur</a:t>
                      </a:r>
                    </a:p>
                  </a:txBody>
                  <a:tcPr anchor="ctr" marL="91440" marR="91440" marT="27432" marB="27432">
                    <a:solidFill>
                      <a:srgbClr val="F5F6F8"/>
                    </a:solidFill>
                  </a:tcPr>
                </a:tc>
                <a:tc>
                  <a:txBody>
                    <a:bodyPr/>
                    <a:lstStyle/>
                    <a:p>
                      <a:pPr algn="l"/>
                      <a:r>
                        <a:rPr sz="1050" b="0">
                          <a:solidFill>
                            <a:srgbClr val="1A1A1A"/>
                          </a:solidFill>
                          <a:latin typeface="Arial"/>
                        </a:rPr>
                        <a:t>Offre annuelle, qualité, montée en valeur</a:t>
                      </a:r>
                    </a:p>
                  </a:txBody>
                  <a:tcPr anchor="ctr" marL="91440" marR="91440" marT="27432" marB="27432">
                    <a:solidFill>
                      <a:srgbClr val="F5F6F8"/>
                    </a:solidFill>
                  </a:tcPr>
                </a:tc>
              </a:tr>
              <a:tr h="475488">
                <a:tc>
                  <a:txBody>
                    <a:bodyPr/>
                    <a:lstStyle/>
                    <a:p>
                      <a:pPr algn="l"/>
                      <a:r>
                        <a:rPr sz="1050" b="1">
                          <a:solidFill>
                            <a:srgbClr val="0F2742"/>
                          </a:solidFill>
                          <a:latin typeface="Arial"/>
                        </a:rPr>
                        <a:t>Différenciation faible</a:t>
                      </a:r>
                    </a:p>
                  </a:txBody>
                  <a:tcPr anchor="ctr" marL="91440" marR="91440" marT="27432" marB="27432">
                    <a:solidFill>
                      <a:srgbClr val="FFFFFF"/>
                    </a:solidFill>
                  </a:tcPr>
                </a:tc>
                <a:tc>
                  <a:txBody>
                    <a:bodyPr/>
                    <a:lstStyle/>
                    <a:p>
                      <a:pPr algn="l"/>
                      <a:r>
                        <a:rPr sz="1050" b="0">
                          <a:solidFill>
                            <a:srgbClr val="1A1A1A"/>
                          </a:solidFill>
                          <a:latin typeface="Arial"/>
                        </a:rPr>
                        <a:t>Si le payant n'apporte pas assez</a:t>
                      </a:r>
                    </a:p>
                  </a:txBody>
                  <a:tcPr anchor="ctr" marL="91440" marR="91440" marT="27432" marB="27432">
                    <a:solidFill>
                      <a:srgbClr val="FFFFFF"/>
                    </a:solidFill>
                  </a:tcPr>
                </a:tc>
                <a:tc>
                  <a:txBody>
                    <a:bodyPr/>
                    <a:lstStyle/>
                    <a:p>
                      <a:pPr algn="l"/>
                      <a:r>
                        <a:rPr sz="1050" b="0">
                          <a:solidFill>
                            <a:srgbClr val="1A1A1A"/>
                          </a:solidFill>
                          <a:latin typeface="Arial"/>
                        </a:rPr>
                        <a:t>Réserver une vraie valeur exclusive</a:t>
                      </a:r>
                    </a:p>
                  </a:txBody>
                  <a:tcPr anchor="ctr" marL="91440" marR="91440" marT="27432" marB="27432">
                    <a:solidFill>
                      <a:srgbClr val="FFFFFF"/>
                    </a:solidFill>
                  </a:tcPr>
                </a:tc>
              </a:tr>
              <a:tr h="475488">
                <a:tc>
                  <a:txBody>
                    <a:bodyPr/>
                    <a:lstStyle/>
                    <a:p>
                      <a:pPr algn="l"/>
                      <a:r>
                        <a:rPr sz="1050" b="1">
                          <a:solidFill>
                            <a:srgbClr val="0F2742"/>
                          </a:solidFill>
                          <a:latin typeface="Arial"/>
                        </a:rPr>
                        <a:t>Risque réglementaire</a:t>
                      </a:r>
                    </a:p>
                  </a:txBody>
                  <a:tcPr anchor="ctr" marL="91440" marR="91440" marT="27432" marB="27432">
                    <a:solidFill>
                      <a:srgbClr val="F5F6F8"/>
                    </a:solidFill>
                  </a:tcPr>
                </a:tc>
                <a:tc>
                  <a:txBody>
                    <a:bodyPr/>
                    <a:lstStyle/>
                    <a:p>
                      <a:pPr algn="l"/>
                      <a:r>
                        <a:rPr sz="1050" b="0">
                          <a:solidFill>
                            <a:srgbClr val="1A1A1A"/>
                          </a:solidFill>
                          <a:latin typeface="Arial"/>
                        </a:rPr>
                        <a:t>Requalification en conseil financier</a:t>
                      </a:r>
                    </a:p>
                  </a:txBody>
                  <a:tcPr anchor="ctr" marL="91440" marR="91440" marT="27432" marB="27432">
                    <a:solidFill>
                      <a:srgbClr val="F5F6F8"/>
                    </a:solidFill>
                  </a:tcPr>
                </a:tc>
                <a:tc>
                  <a:txBody>
                    <a:bodyPr/>
                    <a:lstStyle/>
                    <a:p>
                      <a:pPr algn="l"/>
                      <a:r>
                        <a:rPr sz="1050" b="0">
                          <a:solidFill>
                            <a:srgbClr val="1A1A1A"/>
                          </a:solidFill>
                          <a:latin typeface="Arial"/>
                        </a:rPr>
                        <a:t>Discipline éditoriale + validation juridique</a:t>
                      </a:r>
                    </a:p>
                  </a:txBody>
                  <a:tcPr anchor="ctr" marL="91440" marR="91440" marT="27432" marB="27432">
                    <a:solidFill>
                      <a:srgbClr val="F5F6F8"/>
                    </a:solidFill>
                  </a:tcPr>
                </a:tc>
              </a:tr>
              <a:tr h="475488">
                <a:tc>
                  <a:txBody>
                    <a:bodyPr/>
                    <a:lstStyle/>
                    <a:p>
                      <a:pPr algn="l"/>
                      <a:r>
                        <a:rPr sz="1050" b="1">
                          <a:solidFill>
                            <a:srgbClr val="0F2742"/>
                          </a:solidFill>
                          <a:latin typeface="Arial"/>
                        </a:rPr>
                        <a:t>Dépendance au fondateur</a:t>
                      </a:r>
                    </a:p>
                  </a:txBody>
                  <a:tcPr anchor="ctr" marL="91440" marR="91440" marT="27432" marB="27432">
                    <a:solidFill>
                      <a:srgbClr val="FFFFFF"/>
                    </a:solidFill>
                  </a:tcPr>
                </a:tc>
                <a:tc>
                  <a:txBody>
                    <a:bodyPr/>
                    <a:lstStyle/>
                    <a:p>
                      <a:pPr algn="l"/>
                      <a:r>
                        <a:rPr sz="1050" b="0">
                          <a:solidFill>
                            <a:srgbClr val="1A1A1A"/>
                          </a:solidFill>
                          <a:latin typeface="Arial"/>
                        </a:rPr>
                        <a:t>Concentration des compétences clés</a:t>
                      </a:r>
                    </a:p>
                  </a:txBody>
                  <a:tcPr anchor="ctr" marL="91440" marR="91440" marT="27432" marB="27432">
                    <a:solidFill>
                      <a:srgbClr val="FFFFFF"/>
                    </a:solidFill>
                  </a:tcPr>
                </a:tc>
                <a:tc>
                  <a:txBody>
                    <a:bodyPr/>
                    <a:lstStyle/>
                    <a:p>
                      <a:pPr algn="l"/>
                      <a:r>
                        <a:rPr sz="1050" b="0">
                          <a:solidFill>
                            <a:srgbClr val="1A1A1A"/>
                          </a:solidFill>
                          <a:latin typeface="Arial"/>
                        </a:rPr>
                        <a:t>Documenter, recruter, automatiser</a:t>
                      </a:r>
                    </a:p>
                  </a:txBody>
                  <a:tcPr anchor="ctr" marL="91440" marR="91440" marT="27432" marB="27432">
                    <a:solidFill>
                      <a:srgbClr val="FFFFFF"/>
                    </a:solidFill>
                  </a:tcPr>
                </a:tc>
              </a:tr>
              <a:tr h="475488">
                <a:tc>
                  <a:txBody>
                    <a:bodyPr/>
                    <a:lstStyle/>
                    <a:p>
                      <a:pPr algn="l"/>
                      <a:r>
                        <a:rPr sz="1050" b="1">
                          <a:solidFill>
                            <a:srgbClr val="0F2742"/>
                          </a:solidFill>
                          <a:latin typeface="Arial"/>
                        </a:rPr>
                        <a:t>Fiabilité des données</a:t>
                      </a:r>
                    </a:p>
                  </a:txBody>
                  <a:tcPr anchor="ctr" marL="91440" marR="91440" marT="27432" marB="27432">
                    <a:solidFill>
                      <a:srgbClr val="F5F6F8"/>
                    </a:solidFill>
                  </a:tcPr>
                </a:tc>
                <a:tc>
                  <a:txBody>
                    <a:bodyPr/>
                    <a:lstStyle/>
                    <a:p>
                      <a:pPr algn="l"/>
                      <a:r>
                        <a:rPr sz="1050" b="0">
                          <a:solidFill>
                            <a:srgbClr val="1A1A1A"/>
                          </a:solidFill>
                          <a:latin typeface="Arial"/>
                        </a:rPr>
                        <a:t>Une erreur chiffrée nuit à la confiance</a:t>
                      </a:r>
                    </a:p>
                  </a:txBody>
                  <a:tcPr anchor="ctr" marL="91440" marR="91440" marT="27432" marB="27432">
                    <a:solidFill>
                      <a:srgbClr val="F5F6F8"/>
                    </a:solidFill>
                  </a:tcPr>
                </a:tc>
                <a:tc>
                  <a:txBody>
                    <a:bodyPr/>
                    <a:lstStyle/>
                    <a:p>
                      <a:pPr algn="l"/>
                      <a:r>
                        <a:rPr sz="1050" b="0">
                          <a:solidFill>
                            <a:srgbClr val="1A1A1A"/>
                          </a:solidFill>
                          <a:latin typeface="Arial"/>
                        </a:rPr>
                        <a:t>Double sourcing, contrôle qualité, datation</a:t>
                      </a:r>
                    </a:p>
                  </a:txBody>
                  <a:tcPr anchor="ctr" marL="91440" marR="91440" marT="27432" marB="27432">
                    <a:solidFill>
                      <a:srgbClr val="F5F6F8"/>
                    </a:solidFill>
                  </a:tcPr>
                </a:tc>
              </a:tr>
            </a:tbl>
          </a:graphicData>
        </a:graphic>
      </p:graphicFrame>
      <p:cxnSp>
        <p:nvCxnSpPr>
          <p:cNvPr id="9" name="Connector 8"/>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1" name="TextBox 10"/>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Feuille de route</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FINANCES &amp; RISQUES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109728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0" i="1">
                <a:solidFill>
                  <a:srgbClr val="1E3A5F"/>
                </a:solidFill>
                <a:latin typeface="Arial"/>
              </a:rPr>
              <a:t>Court, moyen et long terme : de la consolidation à la référence francophone.</a:t>
            </a:r>
          </a:p>
        </p:txBody>
      </p:sp>
      <p:sp>
        <p:nvSpPr>
          <p:cNvPr id="8" name="Rounded Rectangle 7"/>
          <p:cNvSpPr/>
          <p:nvPr/>
        </p:nvSpPr>
        <p:spPr>
          <a:xfrm>
            <a:off x="566928" y="1956816"/>
            <a:ext cx="3515258"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21408"/>
            <a:ext cx="3186074"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01</a:t>
            </a:r>
          </a:p>
        </p:txBody>
      </p:sp>
      <p:sp>
        <p:nvSpPr>
          <p:cNvPr id="10" name="TextBox 9"/>
          <p:cNvSpPr txBox="1"/>
          <p:nvPr/>
        </p:nvSpPr>
        <p:spPr>
          <a:xfrm>
            <a:off x="731520" y="2670048"/>
            <a:ext cx="3186074"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0–6 mois</a:t>
            </a:r>
          </a:p>
        </p:txBody>
      </p:sp>
      <p:sp>
        <p:nvSpPr>
          <p:cNvPr id="11" name="TextBox 10"/>
          <p:cNvSpPr txBox="1"/>
          <p:nvPr/>
        </p:nvSpPr>
        <p:spPr>
          <a:xfrm>
            <a:off x="731520" y="3255264"/>
            <a:ext cx="3186074"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Consolider la cadence, finaliser le dashboard, lancer les premières campagnes Meta, structurer le funnel.</a:t>
            </a:r>
          </a:p>
        </p:txBody>
      </p:sp>
      <p:sp>
        <p:nvSpPr>
          <p:cNvPr id="12" name="TextBox 11"/>
          <p:cNvSpPr txBox="1"/>
          <p:nvPr/>
        </p:nvSpPr>
        <p:spPr>
          <a:xfrm>
            <a:off x="4063898"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13" name="Rounded Rectangle 12"/>
          <p:cNvSpPr/>
          <p:nvPr/>
        </p:nvSpPr>
        <p:spPr>
          <a:xfrm>
            <a:off x="4338218" y="1956816"/>
            <a:ext cx="3515258"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2810" y="2121408"/>
            <a:ext cx="3186074"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02</a:t>
            </a:r>
          </a:p>
        </p:txBody>
      </p:sp>
      <p:sp>
        <p:nvSpPr>
          <p:cNvPr id="15" name="TextBox 14"/>
          <p:cNvSpPr txBox="1"/>
          <p:nvPr/>
        </p:nvSpPr>
        <p:spPr>
          <a:xfrm>
            <a:off x="4502810" y="2670048"/>
            <a:ext cx="3186074"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6–18 mois</a:t>
            </a:r>
          </a:p>
        </p:txBody>
      </p:sp>
      <p:sp>
        <p:nvSpPr>
          <p:cNvPr id="16" name="TextBox 15"/>
          <p:cNvSpPr txBox="1"/>
          <p:nvPr/>
        </p:nvSpPr>
        <p:spPr>
          <a:xfrm>
            <a:off x="4502810" y="3255264"/>
            <a:ext cx="3186074"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Atteindre le premier millier d'abonnés, affiner l'économie unitaire, tester l'offre B2B.</a:t>
            </a:r>
          </a:p>
        </p:txBody>
      </p:sp>
      <p:sp>
        <p:nvSpPr>
          <p:cNvPr id="17" name="TextBox 16"/>
          <p:cNvSpPr txBox="1"/>
          <p:nvPr/>
        </p:nvSpPr>
        <p:spPr>
          <a:xfrm>
            <a:off x="7835188" y="3813048"/>
            <a:ext cx="256032"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800" b="1" i="0">
                <a:solidFill>
                  <a:srgbClr val="5B7A9D"/>
                </a:solidFill>
                <a:latin typeface="Arial"/>
              </a:rPr>
              <a:t>›</a:t>
            </a:r>
          </a:p>
        </p:txBody>
      </p:sp>
      <p:sp>
        <p:nvSpPr>
          <p:cNvPr id="18" name="Rounded Rectangle 17"/>
          <p:cNvSpPr/>
          <p:nvPr/>
        </p:nvSpPr>
        <p:spPr>
          <a:xfrm>
            <a:off x="8109508" y="1956816"/>
            <a:ext cx="3515258" cy="4078224"/>
          </a:xfrm>
          <a:prstGeom prst="roundRect">
            <a:avLst>
              <a:gd name="adj" fmla="val 5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4100" y="2121408"/>
            <a:ext cx="3186074" cy="4572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C9A34E"/>
                </a:solidFill>
                <a:latin typeface="Playfair Display"/>
              </a:rPr>
              <a:t>03</a:t>
            </a:r>
          </a:p>
        </p:txBody>
      </p:sp>
      <p:sp>
        <p:nvSpPr>
          <p:cNvPr id="20" name="TextBox 19"/>
          <p:cNvSpPr txBox="1"/>
          <p:nvPr/>
        </p:nvSpPr>
        <p:spPr>
          <a:xfrm>
            <a:off x="8274100" y="2670048"/>
            <a:ext cx="3186074" cy="54864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F2742"/>
                </a:solidFill>
                <a:latin typeface="Playfair Display"/>
              </a:rPr>
              <a:t>18–36 mois</a:t>
            </a:r>
          </a:p>
        </p:txBody>
      </p:sp>
      <p:sp>
        <p:nvSpPr>
          <p:cNvPr id="21" name="TextBox 20"/>
          <p:cNvSpPr txBox="1"/>
          <p:nvPr/>
        </p:nvSpPr>
        <p:spPr>
          <a:xfrm>
            <a:off x="8274100" y="3255264"/>
            <a:ext cx="3186074" cy="2615184"/>
          </a:xfrm>
          <a:prstGeom prst="rect">
            <a:avLst/>
          </a:prstGeom>
          <a:noFill/>
        </p:spPr>
        <p:txBody>
          <a:bodyPr wrap="square" anchor="t" lIns="0" rIns="0" tIns="0" bIns="0">
            <a:spAutoFit/>
          </a:bodyPr>
          <a:lstStyle/>
          <a:p>
            <a:pPr algn="l">
              <a:lnSpc>
                <a:spcPct val="110000"/>
              </a:lnSpc>
              <a:spcBef>
                <a:spcPts val="0"/>
              </a:spcBef>
              <a:spcAft>
                <a:spcPts val="400"/>
              </a:spcAft>
            </a:pPr>
            <a:r>
              <a:rPr sz="1000" b="0" i="0">
                <a:solidFill>
                  <a:srgbClr val="1A1A1A"/>
                </a:solidFill>
                <a:latin typeface="Arial"/>
              </a:rPr>
              <a:t>Étendre à la France et la Belgique, diversifier les revenus, installer WMB comme la référence.</a:t>
            </a:r>
          </a:p>
        </p:txBody>
      </p:sp>
      <p:cxnSp>
        <p:nvCxnSpPr>
          <p:cNvPr id="22" name="Connector 21"/>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24" name="TextBox 23"/>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1737360"/>
            <a:ext cx="1371600" cy="1371600"/>
          </a:xfrm>
          <a:prstGeom prst="rect">
            <a:avLst/>
          </a:prstGeom>
          <a:noFill/>
        </p:spPr>
        <p:txBody>
          <a:bodyPr wrap="square" anchor="t" lIns="0" rIns="0" tIns="0" bIns="0">
            <a:spAutoFit/>
          </a:bodyPr>
          <a:lstStyle/>
          <a:p>
            <a:pPr algn="l">
              <a:lnSpc>
                <a:spcPct val="100000"/>
              </a:lnSpc>
              <a:spcBef>
                <a:spcPts val="0"/>
              </a:spcBef>
              <a:spcAft>
                <a:spcPts val="400"/>
              </a:spcAft>
            </a:pPr>
            <a:r>
              <a:rPr sz="12000" b="1" i="0">
                <a:solidFill>
                  <a:srgbClr val="C9A34E"/>
                </a:solidFill>
                <a:latin typeface="Playfair Display"/>
              </a:rPr>
              <a:t>“</a:t>
            </a:r>
          </a:p>
        </p:txBody>
      </p:sp>
      <p:sp>
        <p:nvSpPr>
          <p:cNvPr id="4" name="TextBox 3"/>
          <p:cNvSpPr txBox="1"/>
          <p:nvPr/>
        </p:nvSpPr>
        <p:spPr>
          <a:xfrm>
            <a:off x="932688" y="2651760"/>
            <a:ext cx="9960559" cy="2194560"/>
          </a:xfrm>
          <a:prstGeom prst="rect">
            <a:avLst/>
          </a:prstGeom>
          <a:noFill/>
        </p:spPr>
        <p:txBody>
          <a:bodyPr wrap="square" anchor="t" lIns="0" rIns="0" tIns="0" bIns="0">
            <a:spAutoFit/>
          </a:bodyPr>
          <a:lstStyle/>
          <a:p>
            <a:pPr algn="l">
              <a:lnSpc>
                <a:spcPct val="118000"/>
              </a:lnSpc>
              <a:spcBef>
                <a:spcPts val="0"/>
              </a:spcBef>
              <a:spcAft>
                <a:spcPts val="400"/>
              </a:spcAft>
            </a:pPr>
            <a:r>
              <a:rPr sz="3000" b="0" i="1">
                <a:solidFill>
                  <a:srgbClr val="0F2742"/>
                </a:solidFill>
                <a:latin typeface="Playfair Display"/>
              </a:rPr>
              <a:t>La taille du marché n'est pas la contrainte. La contrainte — et l'opportunité — est l'exécution : la régularité, la qualité, et la patience de construire la confiance.</a:t>
            </a:r>
          </a:p>
        </p:txBody>
      </p:sp>
      <p:cxnSp>
        <p:nvCxnSpPr>
          <p:cNvPr id="5" name="Connector 4"/>
          <p:cNvCxnSpPr/>
          <p:nvPr/>
        </p:nvCxnSpPr>
        <p:spPr>
          <a:xfrm>
            <a:off x="932688" y="5440680"/>
            <a:ext cx="1097279" cy="0"/>
          </a:xfrm>
          <a:prstGeom prst="bentConnector3">
            <a:avLst/>
          </a:prstGeom>
          <a:ln w="19050">
            <a:solidFill>
              <a:srgbClr val="C9A34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32688" y="5577840"/>
            <a:ext cx="11057839"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1E3A5F"/>
                </a:solidFill>
                <a:latin typeface="Arial"/>
              </a:rPr>
              <a:t>WallStreet Market Brief — Conclusion du business plan</a:t>
            </a:r>
          </a:p>
        </p:txBody>
      </p:sp>
      <p:cxnSp>
        <p:nvCxnSpPr>
          <p:cNvPr id="7" name="Connector 6"/>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9" name="TextBox 8"/>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128016" cy="384048"/>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20624"/>
            <a:ext cx="7948879" cy="640080"/>
          </a:xfrm>
          <a:prstGeom prst="rect">
            <a:avLst/>
          </a:prstGeom>
          <a:noFill/>
        </p:spPr>
        <p:txBody>
          <a:bodyPr wrap="square" anchor="ctr" lIns="0" rIns="0" tIns="0" bIns="0">
            <a:spAutoFit/>
          </a:bodyPr>
          <a:lstStyle/>
          <a:p>
            <a:pPr algn="l">
              <a:lnSpc>
                <a:spcPct val="100000"/>
              </a:lnSpc>
              <a:spcBef>
                <a:spcPts val="0"/>
              </a:spcBef>
              <a:spcAft>
                <a:spcPts val="400"/>
              </a:spcAft>
            </a:pPr>
            <a:r>
              <a:rPr sz="3100" b="1" i="0">
                <a:solidFill>
                  <a:srgbClr val="0F2742"/>
                </a:solidFill>
                <a:latin typeface="Playfair Display"/>
              </a:rPr>
              <a:t>Disclaimer</a:t>
            </a:r>
          </a:p>
        </p:txBody>
      </p:sp>
      <p:sp>
        <p:nvSpPr>
          <p:cNvPr id="5" name="TextBox 4"/>
          <p:cNvSpPr txBox="1"/>
          <p:nvPr/>
        </p:nvSpPr>
        <p:spPr>
          <a:xfrm>
            <a:off x="8515807" y="548640"/>
            <a:ext cx="310896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1" i="0">
                <a:solidFill>
                  <a:srgbClr val="5B7A9D"/>
                </a:solidFill>
                <a:latin typeface="Arial"/>
              </a:rPr>
              <a:t>MENTIONS LÉGALES</a:t>
            </a:r>
          </a:p>
        </p:txBody>
      </p:sp>
      <p:cxnSp>
        <p:nvCxnSpPr>
          <p:cNvPr id="6" name="Connector 5"/>
          <p:cNvCxnSpPr/>
          <p:nvPr/>
        </p:nvCxnSpPr>
        <p:spPr>
          <a:xfrm>
            <a:off x="566928" y="1024128"/>
            <a:ext cx="11057839" cy="0"/>
          </a:xfrm>
          <a:prstGeom prst="bentConnector3">
            <a:avLst/>
          </a:prstGeom>
          <a:ln w="13970">
            <a:solidFill>
              <a:srgbClr val="0F2742"/>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66928" y="1408176"/>
            <a:ext cx="11057839" cy="4718304"/>
          </a:xfrm>
          <a:prstGeom prst="roundRect">
            <a:avLst>
              <a:gd name="adj" fmla="val 2000"/>
            </a:avLst>
          </a:prstGeom>
          <a:solidFill>
            <a:srgbClr val="F5F6F8"/>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682496"/>
            <a:ext cx="10326319" cy="4261104"/>
          </a:xfrm>
          <a:prstGeom prst="rect">
            <a:avLst/>
          </a:prstGeom>
          <a:noFill/>
        </p:spPr>
        <p:txBody>
          <a:bodyPr wrap="square" anchor="t" lIns="0" rIns="0" tIns="0" bIns="0">
            <a:spAutoFit/>
          </a:bodyPr>
          <a:lstStyle/>
          <a:p>
            <a:pPr algn="l">
              <a:lnSpc>
                <a:spcPct val="125000"/>
              </a:lnSpc>
              <a:spcBef>
                <a:spcPts val="0"/>
              </a:spcBef>
              <a:spcAft>
                <a:spcPts val="900"/>
              </a:spcAft>
            </a:pPr>
            <a:r>
              <a:rPr sz="1050" b="0" i="0">
                <a:solidFill>
                  <a:srgbClr val="5B7A9D"/>
                </a:solidFill>
                <a:latin typeface="Arial"/>
              </a:rPr>
              <a:t>WallStreet Market Brief (WMB) produit un contenu strictement informatif et éducatif. Les éditions, briefings, modules et thèmes ne constituent en aucun cas un conseil en investissement, une recommandation d'achat ou de vente, un objectif de prix, un signal de trading ou une promesse de performance.</a:t>
            </a:r>
          </a:p>
          <a:p>
            <a:pPr algn="l">
              <a:lnSpc>
                <a:spcPct val="125000"/>
              </a:lnSpc>
              <a:spcBef>
                <a:spcPts val="0"/>
              </a:spcBef>
              <a:spcAft>
                <a:spcPts val="900"/>
              </a:spcAft>
            </a:pPr>
            <a:r>
              <a:rPr sz="1050" b="0" i="0">
                <a:solidFill>
                  <a:srgbClr val="5B7A9D"/>
                </a:solidFill>
                <a:latin typeface="Arial"/>
              </a:rPr>
              <a:t>Les chiffres de marché présentés dans ce document sont illustratifs et destinés à montrer le format éditorial. Les projections financières sont des hypothèses de travail fondées sur des paramètres explicites ; elles ne constituent ni des données réalisées, ni une garantie de résultat.</a:t>
            </a:r>
          </a:p>
          <a:p>
            <a:pPr algn="l">
              <a:lnSpc>
                <a:spcPct val="125000"/>
              </a:lnSpc>
              <a:spcBef>
                <a:spcPts val="0"/>
              </a:spcBef>
              <a:spcAft>
                <a:spcPts val="900"/>
              </a:spcAft>
            </a:pPr>
            <a:r>
              <a:rPr sz="1050" b="0" i="0">
                <a:solidFill>
                  <a:srgbClr val="5B7A9D"/>
                </a:solidFill>
                <a:latin typeface="Arial"/>
              </a:rPr>
              <a:t>Chaque décision d'investissement relève de la seule responsabilité du lecteur, le cas échéant après consultation d'un conseiller dûment autorisé. Compte tenu du cadre réglementaire suisse relatif aux services financiers, le périmètre éditorial et les mentions de WMB font l'objet d'une validation juridique avant toute montée en échelle.</a:t>
            </a:r>
          </a:p>
          <a:p>
            <a:pPr algn="l">
              <a:lnSpc>
                <a:spcPct val="125000"/>
              </a:lnSpc>
              <a:spcBef>
                <a:spcPts val="0"/>
              </a:spcBef>
              <a:spcAft>
                <a:spcPts val="900"/>
              </a:spcAft>
            </a:pPr>
            <a:r>
              <a:rPr sz="1050" b="0" i="0">
                <a:solidFill>
                  <a:srgbClr val="5B7A9D"/>
                </a:solidFill>
                <a:latin typeface="Arial"/>
              </a:rPr>
              <a:t>Document de travail confidentiel destiné à la direction, aux partenaires et aux investisseurs potentiels. Toute diffusion externe requiert l'accord préalable de WMB.</a:t>
            </a:r>
          </a:p>
        </p:txBody>
      </p:sp>
      <p:cxnSp>
        <p:nvCxnSpPr>
          <p:cNvPr id="9" name="Connector 8"/>
          <p:cNvCxnSpPr/>
          <p:nvPr/>
        </p:nvCxnSpPr>
        <p:spPr>
          <a:xfrm>
            <a:off x="566928" y="6437376"/>
            <a:ext cx="11057839" cy="0"/>
          </a:xfrm>
          <a:prstGeom prst="bentConnector3">
            <a:avLst/>
          </a:prstGeom>
          <a:ln w="6350">
            <a:solidFill>
              <a:srgbClr val="E2E5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66928" y="647395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5B7A9D"/>
                </a:solidFill>
                <a:latin typeface="Arial"/>
              </a:rPr>
              <a:t>WallStreet Market Brief</a:t>
            </a:r>
          </a:p>
        </p:txBody>
      </p:sp>
      <p:sp>
        <p:nvSpPr>
          <p:cNvPr id="11" name="TextBox 10"/>
          <p:cNvSpPr txBox="1"/>
          <p:nvPr/>
        </p:nvSpPr>
        <p:spPr>
          <a:xfrm>
            <a:off x="9795967" y="6473952"/>
            <a:ext cx="18288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5B7A9D"/>
                </a:solidFill>
                <a:latin typeface="Arial"/>
              </a:rPr>
              <a:t>38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0F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468880"/>
            <a:ext cx="548640" cy="91440"/>
          </a:xfrm>
          <a:prstGeom prst="rect">
            <a:avLst/>
          </a:prstGeom>
          <a:solidFill>
            <a:srgbClr val="C9A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697480"/>
            <a:ext cx="11057839" cy="1280160"/>
          </a:xfrm>
          <a:prstGeom prst="rect">
            <a:avLst/>
          </a:prstGeom>
          <a:noFill/>
        </p:spPr>
        <p:txBody>
          <a:bodyPr wrap="square" anchor="t" lIns="0" rIns="0" tIns="0" bIns="0">
            <a:spAutoFit/>
          </a:bodyPr>
          <a:lstStyle/>
          <a:p>
            <a:pPr algn="l">
              <a:lnSpc>
                <a:spcPct val="100000"/>
              </a:lnSpc>
              <a:spcBef>
                <a:spcPts val="0"/>
              </a:spcBef>
              <a:spcAft>
                <a:spcPts val="400"/>
              </a:spcAft>
            </a:pPr>
            <a:r>
              <a:rPr sz="4600" b="1" i="0">
                <a:solidFill>
                  <a:srgbClr val="F7F7F4"/>
                </a:solidFill>
                <a:latin typeface="Playfair Display"/>
              </a:rPr>
              <a:t>Merci</a:t>
            </a:r>
          </a:p>
        </p:txBody>
      </p:sp>
      <p:sp>
        <p:nvSpPr>
          <p:cNvPr id="5" name="TextBox 4"/>
          <p:cNvSpPr txBox="1"/>
          <p:nvPr/>
        </p:nvSpPr>
        <p:spPr>
          <a:xfrm>
            <a:off x="566928" y="3931920"/>
            <a:ext cx="9229039" cy="914400"/>
          </a:xfrm>
          <a:prstGeom prst="rect">
            <a:avLst/>
          </a:prstGeom>
          <a:noFill/>
        </p:spPr>
        <p:txBody>
          <a:bodyPr wrap="square" anchor="t" lIns="0" rIns="0" tIns="0" bIns="0">
            <a:spAutoFit/>
          </a:bodyPr>
          <a:lstStyle/>
          <a:p>
            <a:pPr algn="l">
              <a:lnSpc>
                <a:spcPct val="125000"/>
              </a:lnSpc>
              <a:spcBef>
                <a:spcPts val="0"/>
              </a:spcBef>
              <a:spcAft>
                <a:spcPts val="400"/>
              </a:spcAft>
            </a:pPr>
            <a:r>
              <a:rPr sz="1600" b="0" i="0">
                <a:solidFill>
                  <a:srgbClr val="C7D2DE"/>
                </a:solidFill>
                <a:latin typeface="Arial"/>
              </a:rPr>
              <a:t>WallStreet Market Brief — la référence francophone du brief de marché. Clean, rigoureux, premium, strictement éducatif.</a:t>
            </a:r>
          </a:p>
        </p:txBody>
      </p:sp>
      <p:cxnSp>
        <p:nvCxnSpPr>
          <p:cNvPr id="6" name="Connector 5"/>
          <p:cNvCxnSpPr/>
          <p:nvPr/>
        </p:nvCxnSpPr>
        <p:spPr>
          <a:xfrm>
            <a:off x="566928" y="5806440"/>
            <a:ext cx="11057839" cy="0"/>
          </a:xfrm>
          <a:prstGeom prst="bentConnector3">
            <a:avLst/>
          </a:prstGeom>
          <a:ln w="12700">
            <a:solidFill>
              <a:srgbClr val="1E3A5F"/>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5943600"/>
            <a:ext cx="73152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C9A34E"/>
                </a:solidFill>
                <a:latin typeface="Arial"/>
              </a:rPr>
              <a:t>wallstreetmarketbrief.ch</a:t>
            </a:r>
          </a:p>
        </p:txBody>
      </p:sp>
      <p:sp>
        <p:nvSpPr>
          <p:cNvPr id="8" name="TextBox 7"/>
          <p:cNvSpPr txBox="1"/>
          <p:nvPr/>
        </p:nvSpPr>
        <p:spPr>
          <a:xfrm>
            <a:off x="7052767" y="5943600"/>
            <a:ext cx="4572000" cy="365760"/>
          </a:xfrm>
          <a:prstGeom prst="rect">
            <a:avLst/>
          </a:prstGeom>
          <a:noFill/>
        </p:spPr>
        <p:txBody>
          <a:bodyPr wrap="square" anchor="t" lIns="0" rIns="0" tIns="0" bIns="0">
            <a:spAutoFit/>
          </a:bodyPr>
          <a:lstStyle/>
          <a:p>
            <a:pPr algn="r">
              <a:lnSpc>
                <a:spcPct val="100000"/>
              </a:lnSpc>
              <a:spcBef>
                <a:spcPts val="0"/>
              </a:spcBef>
              <a:spcAft>
                <a:spcPts val="400"/>
              </a:spcAft>
            </a:pPr>
            <a:r>
              <a:rPr sz="1000" b="0" i="1">
                <a:solidFill>
                  <a:srgbClr val="9DB2C9"/>
                </a:solidFill>
                <a:latin typeface="Arial"/>
              </a:rPr>
              <a:t>Informatif et éducatif — aucun conseil en investissement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